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Energy-Efficient Robust Beamforming for Satellite Downlink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Formulating a new maximization problem on our satellite downlink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Motivation: Why Energy Efficiency?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Real satellites have limited onboard power (solar/battery) and amplifier heat budgets</a:t>
            </a:r>
          </a:p>
          <a:p>
            <a:pPr>
              <a:spcAft>
                <a:spcPts val="900"/>
              </a:spcAft>
              <a:defRPr sz="2000"/>
            </a:pPr>
            <a:r>
              <a:t>Maximizing raw data rate alone always pushes transmit power to its full budget, regardless of the marginal rate that extra power actually buys</a:t>
            </a:r>
          </a:p>
          <a:p>
            <a:pPr>
              <a:spcAft>
                <a:spcPts val="900"/>
              </a:spcAft>
              <a:defRPr sz="2000"/>
            </a:pPr>
            <a:r>
              <a:t>The real question is different:</a:t>
            </a:r>
          </a:p>
          <a:p>
            <a:pPr lvl="1">
              <a:spcAft>
                <a:spcPts val="900"/>
              </a:spcAft>
              <a:defRPr sz="1800"/>
            </a:pPr>
            <a:r>
              <a:t>not “how much rate can we get,” but “how much rate do we get per watt actually spent”</a:t>
            </a:r>
          </a:p>
          <a:p>
            <a:pPr>
              <a:spcAft>
                <a:spcPts val="900"/>
              </a:spcAft>
              <a:defRPr sz="2000"/>
            </a:pPr>
            <a:r>
              <a:t>This calls for a new optimization problem — built on the same satellite system our earlier work already established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Motivation: Why a Learning-Based Approach?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Classic (“conventional”) precoders — e.g. MMSE, robust SLNR — work by solving a math formula by hand, derived specifically for one objective and one error assumption</a:t>
            </a:r>
          </a:p>
          <a:p>
            <a:pPr>
              <a:spcAft>
                <a:spcPts val="900"/>
              </a:spcAft>
              <a:defRPr sz="1900"/>
            </a:pPr>
            <a:r>
              <a:t>Our new objective (rate per watt) combined with realistic channel-knowledge errors makes that hand-derived math extremely hard — in general, provably intractable</a:t>
            </a:r>
          </a:p>
          <a:p>
            <a:pPr>
              <a:spcAft>
                <a:spcPts val="900"/>
              </a:spcAft>
              <a:defRPr sz="1900"/>
            </a:pPr>
            <a:r>
              <a:t>Instead of deriving a new formula from scratch, we let an agent learn a good strategy directly from repeated trial and error — a Reinforcement Learning (RL) approach</a:t>
            </a:r>
          </a:p>
          <a:p>
            <a:pPr>
              <a:spcAft>
                <a:spcPts val="900"/>
              </a:spcAft>
              <a:defRPr sz="1900"/>
            </a:pPr>
            <a:r>
              <a:t>This is also flexible: the same learning approach adapts automatically to different antenna counts, user counts, or error levels — no new math derivation needed each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What Is Soft Actor-Critic (SAC)?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Reinforcement Learning in one line: an agent tries something, sees a “reward” for how well it worked, and gradually adjusts to do better — automated trial and error</a:t>
            </a:r>
          </a:p>
          <a:p>
            <a:pPr>
              <a:spcAft>
                <a:spcPts val="900"/>
              </a:spcAft>
              <a:defRPr sz="1800"/>
            </a:pPr>
            <a:r>
              <a:t>Two neural networks work together:</a:t>
            </a:r>
          </a:p>
          <a:p>
            <a:pPr lvl="1">
              <a:spcAft>
                <a:spcPts val="900"/>
              </a:spcAft>
              <a:defRPr sz="1600"/>
            </a:pPr>
            <a:r>
              <a:t>Actor — proposes a precoding strategy (what signal weights to transmit); the decision-maker</a:t>
            </a:r>
          </a:p>
          <a:p>
            <a:pPr lvl="1">
              <a:spcAft>
                <a:spcPts val="900"/>
              </a:spcAft>
              <a:defRPr sz="1600"/>
            </a:pPr>
            <a:r>
              <a:t>Critic — judges how good that strategy turned out to be; a coach scoring each attempt, guiding the Actor's next try</a:t>
            </a:r>
          </a:p>
          <a:p>
            <a:pPr>
              <a:spcAft>
                <a:spcPts val="900"/>
              </a:spcAft>
              <a:defRPr sz="1800"/>
            </a:pPr>
            <a:r>
              <a:t>“Soft” = the agent is deliberately kept a little unpredictable/exploratory, so it keeps searching for a better strategy instead of settling early on a mediocre one</a:t>
            </a:r>
          </a:p>
          <a:p>
            <a:pPr>
              <a:spcAft>
                <a:spcPts val="900"/>
              </a:spcAft>
              <a:defRPr sz="1800"/>
            </a:pPr>
            <a:r>
              <a:t>Why it fits us: our precoding weights are continuous-valued, not a small fixed menu of choices — and the Actor/Critic never need to know the math form of the objective in advance, only a reward number after each attempt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System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t>Single LEO satellite, Uniform Linear Array (ULA), N = 16 antennas</a:t>
            </a:r>
          </a:p>
          <a:p>
            <a:pPr>
              <a:spcAft>
                <a:spcPts val="900"/>
              </a:spcAft>
              <a:defRPr sz="1600"/>
            </a:pPr>
            <a:r>
              <a:t>K = 3 single-antenna ground users</a:t>
            </a:r>
          </a:p>
          <a:p>
            <a:pPr>
              <a:spcAft>
                <a:spcPts val="900"/>
              </a:spcAft>
              <a:defRPr sz="1600"/>
            </a:pPr>
            <a:r>
              <a:t>Satellite altitude d₀ = 600 km   |   Sat. gain G_Sat = 20 dBi   |   User gain G_Usr = 0 dBi</a:t>
            </a:r>
          </a:p>
          <a:p>
            <a:pPr>
              <a:spcAft>
                <a:spcPts val="900"/>
              </a:spcAft>
              <a:defRPr sz="1600"/>
            </a:pPr>
            <a:r>
              <a:t>Carrier wavelength λ = 15 cm (f = 2 GHz)   |   Inter-antenna spacing dₙ = 3λ/2 ≈ 22.5 cm</a:t>
            </a:r>
          </a:p>
          <a:p>
            <a:pPr>
              <a:spcAft>
                <a:spcPts val="900"/>
              </a:spcAft>
              <a:defRPr sz="1600"/>
            </a:pPr>
            <a:r>
              <a:t>Noise power σₙ² ≈ 6×10⁻¹³ W   |   Transmit power budget P = 100 W</a:t>
            </a:r>
          </a:p>
          <a:p>
            <a:pPr>
              <a:spcAft>
                <a:spcPts val="900"/>
              </a:spcAft>
              <a:defRPr sz="1600"/>
            </a:pPr>
            <a:r>
              <a:t>Same LoS channel model and CSIT error model (AoD error + large-scale fading) established in our earlier work — the baseline system this new problem is built on</a:t>
            </a:r>
          </a:p>
        </p:txBody>
      </p:sp>
      <p:pic>
        <p:nvPicPr>
          <p:cNvPr id="4" name="Picture 3" descr="datell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880360"/>
            <a:ext cx="3403763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Baseline: Maximize Sum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Our earlier work on this system established the following objective:</a:t>
            </a:r>
          </a:p>
        </p:txBody>
      </p:sp>
      <p:pic>
        <p:nvPicPr>
          <p:cNvPr id="4" name="Picture 3" descr="r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828800"/>
            <a:ext cx="13969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423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where the instantaneous sum rate over all K users is:</a:t>
            </a:r>
          </a:p>
        </p:txBody>
      </p:sp>
      <p:pic>
        <p:nvPicPr>
          <p:cNvPr id="6" name="Picture 5" descr="sum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971800"/>
            <a:ext cx="2245191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977639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subject to a total radiated power budget P</a:t>
            </a:r>
          </a:p>
          <a:p>
            <a:pPr>
              <a:spcAft>
                <a:spcPts val="900"/>
              </a:spcAft>
              <a:defRPr sz="1700"/>
            </a:pPr>
            <a:r>
              <a:t>The precoder (MMSE, robust SLNR, or our earlier learned SAC precoder) rescales its output to land exactly on this power budget</a:t>
            </a:r>
          </a:p>
          <a:p>
            <a:pPr>
              <a:spcAft>
                <a:spcPts val="900"/>
              </a:spcAft>
              <a:defRPr sz="1700"/>
            </a:pPr>
            <a:r>
              <a:t>Under this rate-only objective, using more transmit power is never worse — so the optimum always saturates the full power budget</a:t>
            </a:r>
          </a:p>
          <a:p>
            <a:pPr>
              <a:spcAft>
                <a:spcPts val="900"/>
              </a:spcAft>
              <a:defRPr sz="1700"/>
            </a:pPr>
            <a:r>
              <a:t>This is the baseline we now build a new problem on top of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Our New Objective: Energy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We add an electrical power consumption model on top of the baseline system:</a:t>
            </a:r>
          </a:p>
        </p:txBody>
      </p:sp>
      <p:pic>
        <p:nvPicPr>
          <p:cNvPr id="4" name="Picture 3" descr="p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828800"/>
            <a:ext cx="2913111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606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900"/>
              </a:spcAft>
              <a:defRPr sz="1600"/>
            </a:pPr>
            <a:r>
              <a:t>our values: η_PA = 0.60 (amplifier efficiency), P_c = 1.0 W/antenna × N=16 → 16 W static draw</a:t>
            </a:r>
          </a:p>
          <a:p>
            <a:pPr>
              <a:spcAft>
                <a:spcPts val="900"/>
              </a:spcAft>
              <a:defRPr sz="1800"/>
            </a:pPr>
            <a:r>
              <a:t>and formulate a new maximization problem — Energy Efficiency:</a:t>
            </a:r>
          </a:p>
        </p:txBody>
      </p:sp>
      <p:pic>
        <p:nvPicPr>
          <p:cNvPr id="6" name="Picture 5" descr="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520440"/>
            <a:ext cx="1836074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2976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900"/>
              </a:spcAft>
              <a:defRPr sz="1600"/>
            </a:pPr>
            <a:r>
              <a:t>same power budget P = 100 W as the baseline</a:t>
            </a:r>
          </a:p>
          <a:p>
            <a:pPr>
              <a:spcAft>
                <a:spcPts val="900"/>
              </a:spcAft>
              <a:defRPr sz="1800"/>
            </a:pPr>
            <a:r>
              <a:t>Precoder now only rescales DOWN when over budget (“clip-only”), instead of always normalizing exactly to the boundary — this lets the policy choose to use less than the full budget when that is more efficient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We Solve It: SAC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Each simulation step, in a loop:</a:t>
            </a:r>
          </a:p>
          <a:p>
            <a:pPr lvl="1">
              <a:spcAft>
                <a:spcPts val="900"/>
              </a:spcAft>
              <a:defRPr sz="1500"/>
            </a:pPr>
            <a:r>
              <a:t>channel estimate  →  Actor network  →  proposed precoding matrix W  →  reward  →  store &amp; learn</a:t>
            </a:r>
          </a:p>
          <a:p>
            <a:pPr>
              <a:spcAft>
                <a:spcPts val="900"/>
              </a:spcAft>
              <a:defRPr sz="1700"/>
            </a:pPr>
            <a:r>
              <a:t>Rate-over-power is a ratio, awkward for RL to optimize directly — Dinkelbach's transform turns it into a subtraction, folded directly into the reward:</a:t>
            </a:r>
          </a:p>
        </p:txBody>
      </p:sp>
      <p:pic>
        <p:nvPicPr>
          <p:cNvPr id="4" name="Picture 3" descr="dinkelb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606040"/>
            <a:ext cx="4104077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2461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900"/>
              </a:spcAft>
              <a:defRPr sz="1500"/>
            </a:pPr>
            <a:r>
              <a:t>λ updated online, as a running average over a 5,000-step window</a:t>
            </a:r>
          </a:p>
          <a:p>
            <a:pPr>
              <a:spcAft>
                <a:spcPts val="900"/>
              </a:spcAft>
              <a:defRPr sz="1700"/>
            </a:pPr>
            <a:r>
              <a:t>Actor and Critic: 4 fully-connected layers of 512 units each, with batch normalization between layers to keep training stable</a:t>
            </a:r>
          </a:p>
          <a:p>
            <a:pPr>
              <a:spcAft>
                <a:spcPts val="900"/>
              </a:spcAft>
              <a:defRPr sz="1700"/>
            </a:pPr>
            <a:r>
              <a:t>Trained with batch size 1024, drawing from a replay buffer of 100,000 past experiences, Adam optimizer</a:t>
            </a:r>
          </a:p>
          <a:p>
            <a:pPr>
              <a:spcAft>
                <a:spcPts val="900"/>
              </a:spcAft>
              <a:defRPr sz="1700"/>
            </a:pPr>
            <a:r>
              <a:t>Trained separately at 3 CSIT error levels: Δε = 0.0, 0.025, 0.05 — 13,000 episodes × 1,000 steps ≈ 13M simulation steps per checkpoint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Results: Power Savings and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MMSE and the regular (100 W) SAC checkpoint always spend the full power budget; our Energy-Efficient checkpoints do not — and stay robust as CSIT error grows:</a:t>
            </a:r>
          </a:p>
        </p:txBody>
      </p:sp>
      <p:pic>
        <p:nvPicPr>
          <p:cNvPr id="4" name="Picture 3" descr="power_comparison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00200"/>
            <a:ext cx="9284093" cy="3977639"/>
          </a:xfrm>
          <a:prstGeom prst="rect">
            <a:avLst/>
          </a:prstGeom>
        </p:spPr>
      </p:pic>
      <p:pic>
        <p:nvPicPr>
          <p:cNvPr id="5" name="Picture 4" descr="rate_panel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00200"/>
            <a:ext cx="5063314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5623560"/>
            <a:ext cx="6309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MMSE and regular SAC always transmit at the full 100 W budget. Our Energy-Efficient SAC checkpoints use only ~56-59 W (41-44% saved).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5623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The checkpoint trained at higher CSIT error degrades more gracefully and overtakes the others as error grows — clean crossovers around error ≈ 0.03–0.07.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Results: What This Looks Like Spatially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Comparing where the regular (100 W) SAC checkpoint and the Energy-Efficient checkpoint actually point their antenna beams, for the same users:</a:t>
            </a:r>
          </a:p>
        </p:txBody>
      </p:sp>
      <p:pic>
        <p:nvPicPr>
          <p:cNvPr id="4" name="Picture 3" descr="beampattern21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737360"/>
            <a:ext cx="4965869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Both checkpoints aim at the same 3 users — the Energy-Efficient checkpoint's beams are just sharper and taller, delivering the same coverage with less spread-out (and therefore less wasted) transmit energy.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Appendix: Parameter Reference (Paper vs. Our Code)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11064240" cy="4974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200400"/>
                <a:gridCol w="3931920"/>
              </a:tblGrid>
              <a:tr h="292608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Paper (Table 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Our code (config.py)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Noise power σₙ²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6×10⁻¹³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6.02×10⁻¹³ W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Transmit power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100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100 W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Satellite altitude d₀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600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600 km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Antenna Nr.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{10, 16}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User Nr.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Overall Sat. Gain G_Sat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20 dBi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20 dBi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Wavelength 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15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15 cm (f = 2 GHz)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Gain per user G_Usr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 dBi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 dBi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Inter-antenna distance dₙ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3λ/2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3λ/2 ≈ 22.5 cm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SGD 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Adam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Adam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Training batch size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1024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Init. LR CrNN, AcNN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1e-4, 1e-5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8.8e-6, 4.2e-5 (Optuna-tuned)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Learning buffer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100,000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Inference / Learning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10 :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10 : 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L2 scales α_Q̂, α_μ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0.01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log Entropy scale α_e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Adaptive (target entropy fixed at 1.0)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172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Free-space path loss (paper Eq. 2):</a:t>
            </a:r>
          </a:p>
        </p:txBody>
      </p:sp>
      <p:pic>
        <p:nvPicPr>
          <p:cNvPr id="5" name="Picture 4" descr="fs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6053328"/>
            <a:ext cx="1583377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6199632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EE-only additions, no analogue in the paper: η_PA=0.60, P_c=1.0 W/antenna (16 W total), Dinkelbach λ window=5000 steps, Δε ∈ {0.0, 0.025, 0.05}, discount γ=0.0 (bandit-style)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