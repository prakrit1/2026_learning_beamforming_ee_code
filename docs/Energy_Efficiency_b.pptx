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6" r:id="rId4"/>
  </p:sldMasterIdLst>
  <p:notesMasterIdLst>
    <p:notesMasterId r:id="rId19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1" r:id="rId17"/>
    <p:sldId id="270" r:id="rId18"/>
  </p:sldIdLst>
  <p:sldSz cx="10160000" cy="571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77B7"/>
    <a:srgbClr val="27285D"/>
    <a:srgbClr val="464FA1"/>
    <a:srgbClr val="B86BAC"/>
    <a:srgbClr val="181717"/>
    <a:srgbClr val="5C61A9"/>
    <a:srgbClr val="065076"/>
    <a:srgbClr val="714187"/>
    <a:srgbClr val="F1C6C7"/>
    <a:srgbClr val="FFF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80059-609A-0CF0-8C5B-0277346B6989}" v="517" dt="2026-07-17T07:44:28.397"/>
    <p1510:client id="{5F5D07F1-7748-4C4F-E5ED-B78D6CCF9B6D}" v="222" dt="2026-07-17T07:44:27.193"/>
    <p1510:client id="{CAB74455-17AA-7503-C686-5151432FB966}" v="1437" dt="2026-07-16T15:21:18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00"/>
        <p:guide pos="320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krit Parajuli" userId="S::parajuli@ant.uni-bremen.de::543cd4e2-8193-4e8e-9d08-b32fef3c8cb4" providerId="AD" clId="Web-{5F5D07F1-7748-4C4F-E5ED-B78D6CCF9B6D}"/>
    <pc:docChg chg="modSld">
      <pc:chgData name="Prakrit Parajuli" userId="S::parajuli@ant.uni-bremen.de::543cd4e2-8193-4e8e-9d08-b32fef3c8cb4" providerId="AD" clId="Web-{5F5D07F1-7748-4C4F-E5ED-B78D6CCF9B6D}" dt="2026-07-17T07:44:27.193" v="220"/>
      <pc:docMkLst>
        <pc:docMk/>
      </pc:docMkLst>
      <pc:sldChg chg="delSp modSp">
        <pc:chgData name="Prakrit Parajuli" userId="S::parajuli@ant.uni-bremen.de::543cd4e2-8193-4e8e-9d08-b32fef3c8cb4" providerId="AD" clId="Web-{5F5D07F1-7748-4C4F-E5ED-B78D6CCF9B6D}" dt="2026-07-17T07:44:27.193" v="220"/>
        <pc:sldMkLst>
          <pc:docMk/>
          <pc:sldMk cId="706845697" sldId="258"/>
        </pc:sldMkLst>
        <pc:spChg chg="del mod">
          <ac:chgData name="Prakrit Parajuli" userId="S::parajuli@ant.uni-bremen.de::543cd4e2-8193-4e8e-9d08-b32fef3c8cb4" providerId="AD" clId="Web-{5F5D07F1-7748-4C4F-E5ED-B78D6CCF9B6D}" dt="2026-07-17T07:44:27.193" v="220"/>
          <ac:spMkLst>
            <pc:docMk/>
            <pc:sldMk cId="706845697" sldId="258"/>
            <ac:spMk id="2" creationId="{26EB4CCE-3818-23D8-2B79-FD09C90B6D31}"/>
          </ac:spMkLst>
        </pc:spChg>
        <pc:spChg chg="mod">
          <ac:chgData name="Prakrit Parajuli" userId="S::parajuli@ant.uni-bremen.de::543cd4e2-8193-4e8e-9d08-b32fef3c8cb4" providerId="AD" clId="Web-{5F5D07F1-7748-4C4F-E5ED-B78D6CCF9B6D}" dt="2026-07-17T07:43:45.473" v="217" actId="20577"/>
          <ac:spMkLst>
            <pc:docMk/>
            <pc:sldMk cId="706845697" sldId="258"/>
            <ac:spMk id="7" creationId="{262CC545-151A-4D57-9763-7AEB8D25EDCA}"/>
          </ac:spMkLst>
        </pc:spChg>
      </pc:sldChg>
    </pc:docChg>
  </pc:docChgLst>
  <pc:docChgLst>
    <pc:chgData name="Alea Schroeder" userId="S::schroeder@ant.uni-bremen.de::bdad46f4-6af3-4d79-8885-23929292b79a" providerId="AD" clId="Web-{4EF80059-609A-0CF0-8C5B-0277346B6989}"/>
    <pc:docChg chg="modSld">
      <pc:chgData name="Alea Schroeder" userId="S::schroeder@ant.uni-bremen.de::bdad46f4-6af3-4d79-8885-23929292b79a" providerId="AD" clId="Web-{4EF80059-609A-0CF0-8C5B-0277346B6989}" dt="2026-07-17T07:44:28.397" v="270" actId="1076"/>
      <pc:docMkLst>
        <pc:docMk/>
      </pc:docMkLst>
      <pc:sldChg chg="addSp modSp">
        <pc:chgData name="Alea Schroeder" userId="S::schroeder@ant.uni-bremen.de::bdad46f4-6af3-4d79-8885-23929292b79a" providerId="AD" clId="Web-{4EF80059-609A-0CF0-8C5B-0277346B6989}" dt="2026-07-17T07:33:31.466" v="30"/>
        <pc:sldMkLst>
          <pc:docMk/>
          <pc:sldMk cId="706845697" sldId="258"/>
        </pc:sldMkLst>
        <pc:spChg chg="add mod">
          <ac:chgData name="Alea Schroeder" userId="S::schroeder@ant.uni-bremen.de::bdad46f4-6af3-4d79-8885-23929292b79a" providerId="AD" clId="Web-{4EF80059-609A-0CF0-8C5B-0277346B6989}" dt="2026-07-17T07:33:31.466" v="30"/>
          <ac:spMkLst>
            <pc:docMk/>
            <pc:sldMk cId="706845697" sldId="258"/>
            <ac:spMk id="2" creationId="{26EB4CCE-3818-23D8-2B79-FD09C90B6D31}"/>
          </ac:spMkLst>
        </pc:spChg>
      </pc:sldChg>
      <pc:sldChg chg="addSp delSp modSp mod setBg">
        <pc:chgData name="Alea Schroeder" userId="S::schroeder@ant.uni-bremen.de::bdad46f4-6af3-4d79-8885-23929292b79a" providerId="AD" clId="Web-{4EF80059-609A-0CF0-8C5B-0277346B6989}" dt="2026-07-17T07:34:32.064" v="112" actId="1076"/>
        <pc:sldMkLst>
          <pc:docMk/>
          <pc:sldMk cId="3241874274" sldId="259"/>
        </pc:sldMkLst>
        <pc:spChg chg="add mod">
          <ac:chgData name="Alea Schroeder" userId="S::schroeder@ant.uni-bremen.de::bdad46f4-6af3-4d79-8885-23929292b79a" providerId="AD" clId="Web-{4EF80059-609A-0CF0-8C5B-0277346B6989}" dt="2026-07-17T07:34:32.064" v="112" actId="1076"/>
          <ac:spMkLst>
            <pc:docMk/>
            <pc:sldMk cId="3241874274" sldId="259"/>
            <ac:spMk id="3" creationId="{13C5E74D-EAF1-6F2F-9F56-624379819742}"/>
          </ac:spMkLst>
        </pc:spChg>
        <pc:spChg chg="mo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5" creationId="{2A14A94B-2D44-4D4C-89EC-FBEBEDCAF2BE}"/>
          </ac:spMkLst>
        </pc:spChg>
        <pc:spChg chg="mod ord">
          <ac:chgData name="Alea Schroeder" userId="S::schroeder@ant.uni-bremen.de::bdad46f4-6af3-4d79-8885-23929292b79a" providerId="AD" clId="Web-{4EF80059-609A-0CF0-8C5B-0277346B6989}" dt="2026-07-17T07:30:44.123" v="10"/>
          <ac:spMkLst>
            <pc:docMk/>
            <pc:sldMk cId="3241874274" sldId="259"/>
            <ac:spMk id="6" creationId="{B6513991-740D-4907-A80F-4D93E1FD1F01}"/>
          </ac:spMkLst>
        </pc:spChg>
        <pc:grpChg chg="add">
          <ac:chgData name="Alea Schroeder" userId="S::schroeder@ant.uni-bremen.de::bdad46f4-6af3-4d79-8885-23929292b79a" providerId="AD" clId="Web-{4EF80059-609A-0CF0-8C5B-0277346B6989}" dt="2026-07-17T07:30:44.123" v="10"/>
          <ac:grpSpMkLst>
            <pc:docMk/>
            <pc:sldMk cId="3241874274" sldId="259"/>
            <ac:grpSpMk id="24" creationId="{442598CC-934A-7BCD-C691-B2FE74CEDE6E}"/>
          </ac:grpSpMkLst>
        </pc:grpChg>
        <pc:grpChg chg="add del">
          <ac:chgData name="Alea Schroeder" userId="S::schroeder@ant.uni-bremen.de::bdad46f4-6af3-4d79-8885-23929292b79a" providerId="AD" clId="Web-{4EF80059-609A-0CF0-8C5B-0277346B6989}" dt="2026-07-17T07:30:07.604" v="7"/>
          <ac:grpSpMkLst>
            <pc:docMk/>
            <pc:sldMk cId="3241874274" sldId="259"/>
            <ac:grpSpMk id="27" creationId="{442598CC-934A-7BCD-C691-B2FE74CEDE6E}"/>
          </ac:grpSpMkLst>
        </pc:grpChg>
        <pc:picChg chg="mod">
          <ac:chgData name="Alea Schroeder" userId="S::schroeder@ant.uni-bremen.de::bdad46f4-6af3-4d79-8885-23929292b79a" providerId="AD" clId="Web-{4EF80059-609A-0CF0-8C5B-0277346B6989}" dt="2026-07-17T07:30:54.671" v="11" actId="1076"/>
          <ac:picMkLst>
            <pc:docMk/>
            <pc:sldMk cId="3241874274" sldId="259"/>
            <ac:picMk id="22" creationId="{C644B571-4F90-9EBC-073F-C69792AAAD50}"/>
          </ac:picMkLst>
        </pc:picChg>
      </pc:sldChg>
      <pc:sldChg chg="addSp delSp modSp">
        <pc:chgData name="Alea Schroeder" userId="S::schroeder@ant.uni-bremen.de::bdad46f4-6af3-4d79-8885-23929292b79a" providerId="AD" clId="Web-{4EF80059-609A-0CF0-8C5B-0277346B6989}" dt="2026-07-17T07:35:17.522" v="173" actId="20577"/>
        <pc:sldMkLst>
          <pc:docMk/>
          <pc:sldMk cId="4062523676" sldId="261"/>
        </pc:sldMkLst>
        <pc:spChg chg="add del mod">
          <ac:chgData name="Alea Schroeder" userId="S::schroeder@ant.uni-bremen.de::bdad46f4-6af3-4d79-8885-23929292b79a" providerId="AD" clId="Web-{4EF80059-609A-0CF0-8C5B-0277346B6989}" dt="2026-07-17T07:34:49.785" v="116"/>
          <ac:spMkLst>
            <pc:docMk/>
            <pc:sldMk cId="4062523676" sldId="261"/>
            <ac:spMk id="4" creationId="{1236C4FC-D86B-46C1-C304-6E14B848367D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35:17.522" v="173" actId="20577"/>
          <ac:spMkLst>
            <pc:docMk/>
            <pc:sldMk cId="4062523676" sldId="261"/>
            <ac:spMk id="6" creationId="{72BB5347-78D6-31D4-F536-1898475F75D0}"/>
          </ac:spMkLst>
        </pc:spChg>
      </pc:sldChg>
      <pc:sldChg chg="addSp modSp">
        <pc:chgData name="Alea Schroeder" userId="S::schroeder@ant.uni-bremen.de::bdad46f4-6af3-4d79-8885-23929292b79a" providerId="AD" clId="Web-{4EF80059-609A-0CF0-8C5B-0277346B6989}" dt="2026-07-17T07:44:28.397" v="270" actId="1076"/>
        <pc:sldMkLst>
          <pc:docMk/>
          <pc:sldMk cId="1680072135" sldId="262"/>
        </pc:sldMkLst>
        <pc:spChg chg="add mod">
          <ac:chgData name="Alea Schroeder" userId="S::schroeder@ant.uni-bremen.de::bdad46f4-6af3-4d79-8885-23929292b79a" providerId="AD" clId="Web-{4EF80059-609A-0CF0-8C5B-0277346B6989}" dt="2026-07-17T07:39:13.464" v="213" actId="1076"/>
          <ac:spMkLst>
            <pc:docMk/>
            <pc:sldMk cId="1680072135" sldId="262"/>
            <ac:spMk id="9" creationId="{4F2B8CCD-3097-82D7-E848-E86B3C02367F}"/>
          </ac:spMkLst>
        </pc:spChg>
        <pc:spChg chg="add mod">
          <ac:chgData name="Alea Schroeder" userId="S::schroeder@ant.uni-bremen.de::bdad46f4-6af3-4d79-8885-23929292b79a" providerId="AD" clId="Web-{4EF80059-609A-0CF0-8C5B-0277346B6989}" dt="2026-07-17T07:44:28.397" v="270" actId="1076"/>
          <ac:spMkLst>
            <pc:docMk/>
            <pc:sldMk cId="1680072135" sldId="262"/>
            <ac:spMk id="10" creationId="{DE10AEA7-DAF4-0E05-859B-7C933775C8D3}"/>
          </ac:spMkLst>
        </pc:spChg>
      </pc:sldChg>
      <pc:sldChg chg="modSp">
        <pc:chgData name="Alea Schroeder" userId="S::schroeder@ant.uni-bremen.de::bdad46f4-6af3-4d79-8885-23929292b79a" providerId="AD" clId="Web-{4EF80059-609A-0CF0-8C5B-0277346B6989}" dt="2026-07-17T07:21:31.967" v="4" actId="20577"/>
        <pc:sldMkLst>
          <pc:docMk/>
          <pc:sldMk cId="1121490856" sldId="268"/>
        </pc:sldMkLst>
        <pc:spChg chg="mod">
          <ac:chgData name="Alea Schroeder" userId="S::schroeder@ant.uni-bremen.de::bdad46f4-6af3-4d79-8885-23929292b79a" providerId="AD" clId="Web-{4EF80059-609A-0CF0-8C5B-0277346B6989}" dt="2026-07-17T07:21:31.967" v="4" actId="20577"/>
          <ac:spMkLst>
            <pc:docMk/>
            <pc:sldMk cId="1121490856" sldId="268"/>
            <ac:spMk id="7" creationId="{1EE645A2-C509-4DDF-B73F-672BBF2038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A424C2-5A7D-4C7D-9307-1FB73B9E016B}" type="datetimeFigureOut">
              <a:rPr lang="de-DE" smtClean="0"/>
              <a:t>17.07.2026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5578D-B561-4ECD-94DD-F21632836C8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93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>
      <p:bgPr>
        <a:gradFill>
          <a:gsLst>
            <a:gs pos="100000">
              <a:schemeClr val="tx1"/>
            </a:gs>
            <a:gs pos="65000">
              <a:srgbClr val="27285D"/>
            </a:gs>
            <a:gs pos="35000">
              <a:srgbClr val="464FA1"/>
            </a:gs>
            <a:gs pos="0">
              <a:srgbClr val="B86BAC">
                <a:alpha val="90000"/>
              </a:srgb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FE9D1DB-F795-40FA-833D-2F9224A3345F}"/>
              </a:ext>
            </a:extLst>
          </p:cNvPr>
          <p:cNvPicPr>
            <a:picLocks noChangeAspect="1"/>
          </p:cNvPicPr>
          <p:nvPr userDrawn="1"/>
        </p:nvPicPr>
        <p:blipFill>
          <a:blip>
            <a:lum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23961" y="1104429"/>
            <a:ext cx="5833538" cy="1296342"/>
          </a:xfrm>
          <a:prstGeom prst="rect">
            <a:avLst/>
          </a:prstGeom>
        </p:spPr>
      </p:pic>
      <p:sp>
        <p:nvSpPr>
          <p:cNvPr id="9" name="Titelplatzhalter 3">
            <a:extLst>
              <a:ext uri="{FF2B5EF4-FFF2-40B4-BE49-F238E27FC236}">
                <a16:creationId xmlns:a16="http://schemas.microsoft.com/office/drawing/2014/main" id="{97A27C46-4A8B-4344-B75E-C7A123464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234" y="331423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de-DE" sz="2400" dirty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r>
              <a:rPr lang="de-DE"/>
              <a:t>Titel der Präsentation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F02BD3E-6328-44F2-BC7D-FAE9FAF79D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07" y="4057652"/>
            <a:ext cx="9389532" cy="429108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Namen, Infos</a:t>
            </a:r>
          </a:p>
        </p:txBody>
      </p:sp>
    </p:spTree>
    <p:extLst>
      <p:ext uri="{BB962C8B-B14F-4D97-AF65-F5344CB8AC3E}">
        <p14:creationId xmlns:p14="http://schemas.microsoft.com/office/powerpoint/2010/main" val="1053201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9" userDrawn="1">
          <p15:clr>
            <a:srgbClr val="FBAE40"/>
          </p15:clr>
        </p15:guide>
        <p15:guide id="2" pos="320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1" name="Untertitelplatzhalter 31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5842000" y="821267"/>
            <a:ext cx="4318000" cy="4893732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2857499"/>
            <a:ext cx="4473575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5E04062-DD4C-4F4C-9842-ADEC4B8D274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80000" y="1210733"/>
            <a:ext cx="4859338" cy="4129296"/>
          </a:xfrm>
          <a:prstGeom prst="round2DiagRect">
            <a:avLst>
              <a:gd name="adj1" fmla="val 20657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itel 6">
            <a:extLst>
              <a:ext uri="{FF2B5EF4-FFF2-40B4-BE49-F238E27FC236}">
                <a16:creationId xmlns:a16="http://schemas.microsoft.com/office/drawing/2014/main" id="{1F1DF546-02ED-4C3C-A38B-563A0D503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53881"/>
            <a:ext cx="4473575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2" name="Grafik 12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25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7036AF2-C29C-43F9-81EF-9477B073E912}"/>
              </a:ext>
            </a:extLst>
          </p:cNvPr>
          <p:cNvSpPr/>
          <p:nvPr userDrawn="1"/>
        </p:nvSpPr>
        <p:spPr>
          <a:xfrm>
            <a:off x="0" y="0"/>
            <a:ext cx="4699000" cy="2345266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DEE002C-DD27-4581-827C-A8A7AF88E1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5763" y="374970"/>
            <a:ext cx="4859338" cy="2482529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C827423D-2873-4AB4-952D-48B355C0B1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13930" y="374970"/>
            <a:ext cx="4177241" cy="248252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2" name="Titel 6">
            <a:extLst>
              <a:ext uri="{FF2B5EF4-FFF2-40B4-BE49-F238E27FC236}">
                <a16:creationId xmlns:a16="http://schemas.microsoft.com/office/drawing/2014/main" id="{CAD49A30-282A-43CF-AFC2-7863E28A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3" y="3232468"/>
            <a:ext cx="4859338" cy="2107561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BF18353-D9F3-40D4-BF9B-9AE7A808C0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554" t="18247" r="15844" b="50000"/>
          <a:stretch/>
        </p:blipFill>
        <p:spPr>
          <a:xfrm>
            <a:off x="6333067" y="4267200"/>
            <a:ext cx="3826933" cy="1447799"/>
          </a:xfrm>
          <a:prstGeom prst="rect">
            <a:avLst/>
          </a:prstGeom>
        </p:spPr>
      </p:pic>
      <p:pic>
        <p:nvPicPr>
          <p:cNvPr id="15" name="Grafik 15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948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1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8177B7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7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7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58513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</p:spPr>
        <p:txBody>
          <a:bodyPr/>
          <a:lstStyle>
            <a:lvl1pPr>
              <a:defRPr>
                <a:solidFill>
                  <a:srgbClr val="8177B7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8177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613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2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27285D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22786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7285D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27285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3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3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464FA1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877918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64FA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464FA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28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enblatt4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5A62152-7856-46B4-9D0A-5A8CF34DE525}"/>
              </a:ext>
            </a:extLst>
          </p:cNvPr>
          <p:cNvSpPr/>
          <p:nvPr userDrawn="1"/>
        </p:nvSpPr>
        <p:spPr>
          <a:xfrm>
            <a:off x="0" y="0"/>
            <a:ext cx="10160000" cy="5715000"/>
          </a:xfrm>
          <a:prstGeom prst="rect">
            <a:avLst/>
          </a:prstGeom>
          <a:gradFill flip="none" rotWithShape="1">
            <a:gsLst>
              <a:gs pos="72000">
                <a:srgbClr val="181717">
                  <a:alpha val="0"/>
                </a:srgbClr>
              </a:gs>
              <a:gs pos="0">
                <a:srgbClr val="B86BAC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0ECF6DF1-A8B7-48D3-82BB-0C23CE601C24}"/>
              </a:ext>
            </a:extLst>
          </p:cNvPr>
          <p:cNvGrpSpPr/>
          <p:nvPr userDrawn="1"/>
        </p:nvGrpSpPr>
        <p:grpSpPr>
          <a:xfrm>
            <a:off x="8089899" y="2171700"/>
            <a:ext cx="1371600" cy="1371600"/>
            <a:chOff x="4174066" y="1951566"/>
            <a:chExt cx="1811867" cy="1811867"/>
          </a:xfrm>
        </p:grpSpPr>
        <p:sp>
          <p:nvSpPr>
            <p:cNvPr id="10" name="Flussdiagramm: Verbinder 9">
              <a:extLst>
                <a:ext uri="{FF2B5EF4-FFF2-40B4-BE49-F238E27FC236}">
                  <a16:creationId xmlns:a16="http://schemas.microsoft.com/office/drawing/2014/main" id="{EEE2AB48-E93F-4F9D-8266-77DE0DCC4D33}"/>
                </a:ext>
              </a:extLst>
            </p:cNvPr>
            <p:cNvSpPr/>
            <p:nvPr userDrawn="1"/>
          </p:nvSpPr>
          <p:spPr>
            <a:xfrm>
              <a:off x="4174066" y="1951566"/>
              <a:ext cx="1811867" cy="1811867"/>
            </a:xfrm>
            <a:prstGeom prst="flowChartConnector">
              <a:avLst/>
            </a:prstGeom>
            <a:solidFill>
              <a:schemeClr val="bg1"/>
            </a:solidFill>
            <a:ln w="34925"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1CD03566-9FF4-4722-9D32-D7BBFBD642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25924" y="2098321"/>
              <a:ext cx="1708150" cy="1518354"/>
            </a:xfrm>
            <a:prstGeom prst="rect">
              <a:avLst/>
            </a:prstGeom>
          </p:spPr>
        </p:pic>
      </p:grpSp>
      <p:sp>
        <p:nvSpPr>
          <p:cNvPr id="12" name="Titel 11">
            <a:extLst>
              <a:ext uri="{FF2B5EF4-FFF2-40B4-BE49-F238E27FC236}">
                <a16:creationId xmlns:a16="http://schemas.microsoft.com/office/drawing/2014/main" id="{FBEA7CFE-BB06-4C50-A90B-66E490C78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7759" y="2171700"/>
            <a:ext cx="6653639" cy="1371600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e-DE"/>
              <a:t>Thema</a:t>
            </a:r>
          </a:p>
        </p:txBody>
      </p:sp>
      <p:sp>
        <p:nvSpPr>
          <p:cNvPr id="13" name="Untertitelplatzhalter 13"/>
          <p:cNvSpPr>
            <a:spLocks noGrp="1"/>
          </p:cNvSpPr>
          <p:nvPr>
            <p:ph type="body" sz="quarter" idx="30" hasCustomPrompt="1"/>
          </p:nvPr>
        </p:nvSpPr>
        <p:spPr>
          <a:xfrm>
            <a:off x="737759" y="3623300"/>
            <a:ext cx="6653639" cy="40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800">
                <a:solidFill>
                  <a:srgbClr val="C7CAE8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79954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layout_zu_Themenblatt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B86BAC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2" name="Untertitelplatzhalter 32"/>
          <p:cNvSpPr>
            <a:spLocks noGrp="1"/>
          </p:cNvSpPr>
          <p:nvPr>
            <p:ph type="body" sz="quarter" idx="30" hasCustomPrompt="1"/>
          </p:nvPr>
        </p:nvSpPr>
        <p:spPr>
          <a:xfrm>
            <a:off x="385763" y="944030"/>
            <a:ext cx="9388475" cy="19103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>
              <a:buNone/>
              <a:defRPr sz="1200">
                <a:solidFill>
                  <a:srgbClr val="464FA1"/>
                </a:solidFill>
              </a:defRPr>
            </a:lvl1pPr>
          </a:lstStyle>
          <a:p>
            <a:r>
              <a:rPr lang="de-DE"/>
              <a:t>Untertitel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D1EB62E-ECEA-4622-84C2-FFE899077F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5763" y="1135063"/>
            <a:ext cx="9388475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48F8395-5C12-4A66-B7C0-6E3D524EC7D4}"/>
              </a:ext>
            </a:extLst>
          </p:cNvPr>
          <p:cNvSpPr/>
          <p:nvPr userDrawn="1"/>
        </p:nvSpPr>
        <p:spPr>
          <a:xfrm>
            <a:off x="0" y="0"/>
            <a:ext cx="10160000" cy="69848"/>
          </a:xfrm>
          <a:prstGeom prst="rect">
            <a:avLst/>
          </a:prstGeom>
          <a:solidFill>
            <a:srgbClr val="B86B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" name="Grafik 31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03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79AF2A7-5E87-418E-9AB1-52DC970C21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2470" y="110116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34CBB22-B6D3-4C7A-96E9-D810C946BB3A}"/>
              </a:ext>
            </a:extLst>
          </p:cNvPr>
          <p:cNvSpPr/>
          <p:nvPr userDrawn="1"/>
        </p:nvSpPr>
        <p:spPr>
          <a:xfrm>
            <a:off x="1" y="0"/>
            <a:ext cx="2209799" cy="5714999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0D0974-472D-4B1C-AFE5-E31C3EB813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8650" y="296335"/>
            <a:ext cx="1584048" cy="397932"/>
          </a:xfrm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de-DE"/>
              <a:t>Contact</a:t>
            </a:r>
          </a:p>
        </p:txBody>
      </p:sp>
      <p:sp>
        <p:nvSpPr>
          <p:cNvPr id="43" name="Textplatzhalter 9">
            <a:extLst>
              <a:ext uri="{FF2B5EF4-FFF2-40B4-BE49-F238E27FC236}">
                <a16:creationId xmlns:a16="http://schemas.microsoft.com/office/drawing/2014/main" id="{A49FA549-0018-4940-B603-8EC2D0AA9C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12470" y="247700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4" name="Bildplatzhalter 7">
            <a:extLst>
              <a:ext uri="{FF2B5EF4-FFF2-40B4-BE49-F238E27FC236}">
                <a16:creationId xmlns:a16="http://schemas.microsoft.com/office/drawing/2014/main" id="{DEB7670D-2662-4F55-80F6-9D0E2D1A3B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08934" y="247700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CF7B0FF1-6515-4976-8164-2289655AD6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470" y="385283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6" name="Bildplatzhalter 7">
            <a:extLst>
              <a:ext uri="{FF2B5EF4-FFF2-40B4-BE49-F238E27FC236}">
                <a16:creationId xmlns:a16="http://schemas.microsoft.com/office/drawing/2014/main" id="{95A12A59-D7FA-421E-B9C3-D2ADE20E1A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08934" y="385258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7" name="Textplatzhalter 9">
            <a:extLst>
              <a:ext uri="{FF2B5EF4-FFF2-40B4-BE49-F238E27FC236}">
                <a16:creationId xmlns:a16="http://schemas.microsoft.com/office/drawing/2014/main" id="{7D8ED570-E296-4A32-B3B1-34AB692BE0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73748" y="110091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48" name="Bildplatzhalter 7">
            <a:extLst>
              <a:ext uri="{FF2B5EF4-FFF2-40B4-BE49-F238E27FC236}">
                <a16:creationId xmlns:a16="http://schemas.microsoft.com/office/drawing/2014/main" id="{E7F62B44-C76A-4232-B88F-EC98C3345D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70212" y="110066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49" name="Textplatzhalter 9">
            <a:extLst>
              <a:ext uri="{FF2B5EF4-FFF2-40B4-BE49-F238E27FC236}">
                <a16:creationId xmlns:a16="http://schemas.microsoft.com/office/drawing/2014/main" id="{2234073C-2B7A-4781-B2E0-02179F63D6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73748" y="2476754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0" name="Bildplatzhalter 7">
            <a:extLst>
              <a:ext uri="{FF2B5EF4-FFF2-40B4-BE49-F238E27FC236}">
                <a16:creationId xmlns:a16="http://schemas.microsoft.com/office/drawing/2014/main" id="{ADFC7E2F-64FF-4B3E-98B5-BC864591773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870212" y="2476754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1" name="Textplatzhalter 9">
            <a:extLst>
              <a:ext uri="{FF2B5EF4-FFF2-40B4-BE49-F238E27FC236}">
                <a16:creationId xmlns:a16="http://schemas.microsoft.com/office/drawing/2014/main" id="{FC077C8D-42C5-4C81-9F89-4F38CEF17B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73748" y="3852589"/>
            <a:ext cx="3183997" cy="1079500"/>
          </a:xfrm>
          <a:solidFill>
            <a:srgbClr val="464FA1">
              <a:alpha val="70000"/>
            </a:srgbClr>
          </a:solidFill>
        </p:spPr>
        <p:txBody>
          <a:bodyPr lIns="360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52" name="Bildplatzhalter 7">
            <a:extLst>
              <a:ext uri="{FF2B5EF4-FFF2-40B4-BE49-F238E27FC236}">
                <a16:creationId xmlns:a16="http://schemas.microsoft.com/office/drawing/2014/main" id="{49CD9403-E82B-447C-B33E-6734BDCD9BA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870212" y="385233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3" name="Foliennummernplatzhalter 5">
            <a:extLst>
              <a:ext uri="{FF2B5EF4-FFF2-40B4-BE49-F238E27FC236}">
                <a16:creationId xmlns:a16="http://schemas.microsoft.com/office/drawing/2014/main" id="{F0398CE1-5E05-4EE1-A4FB-87E1D68243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57" name="Grafik 56">
            <a:extLst>
              <a:ext uri="{FF2B5EF4-FFF2-40B4-BE49-F238E27FC236}">
                <a16:creationId xmlns:a16="http://schemas.microsoft.com/office/drawing/2014/main" id="{C2665805-2D2E-43F1-98DB-A6A87B6A36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1555" y="120485"/>
            <a:ext cx="3078445" cy="684099"/>
          </a:xfrm>
          <a:prstGeom prst="rect">
            <a:avLst/>
          </a:prstGeom>
        </p:spPr>
      </p:pic>
      <p:sp>
        <p:nvSpPr>
          <p:cNvPr id="58" name="Bildplatzhalter 7">
            <a:extLst>
              <a:ext uri="{FF2B5EF4-FFF2-40B4-BE49-F238E27FC236}">
                <a16:creationId xmlns:a16="http://schemas.microsoft.com/office/drawing/2014/main" id="{7EDC7C69-0CA4-4C94-8BB6-E2136637B65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508934" y="1100419"/>
            <a:ext cx="1080000" cy="1080000"/>
          </a:xfrm>
          <a:prstGeom prst="round2Diag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59" name="Datumsplatzhalter 58">
            <a:extLst>
              <a:ext uri="{FF2B5EF4-FFF2-40B4-BE49-F238E27FC236}">
                <a16:creationId xmlns:a16="http://schemas.microsoft.com/office/drawing/2014/main" id="{76E0241A-8701-47C5-92CD-054FA4D21E4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rgbClr val="27285D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607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Textplatzhalter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_mit_Ue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Ueberschrift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1" name="Ueberschrift rechts"/>
          <p:cNvSpPr>
            <a:spLocks noGrp="1"/>
          </p:cNvSpPr>
          <p:nvPr>
            <p:ph type="body" sz="quarter" idx="21" hasCustomPrompt="1"/>
          </p:nvPr>
        </p:nvSpPr>
        <p:spPr>
          <a:xfrm>
            <a:off x="5230000" y="1135063"/>
            <a:ext cx="4544237" cy="400000"/>
          </a:xfrm>
        </p:spPr>
        <p:txBody>
          <a:bodyPr/>
          <a:lstStyle>
            <a:lvl1pPr marL="0" indent="0">
              <a:buNone/>
              <a:defRPr sz="1600" b="1">
                <a:solidFill>
                  <a:srgbClr val="27285D"/>
                </a:solidFill>
              </a:defRPr>
            </a:lvl1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2" name="Textplatzhalter links"/>
          <p:cNvSpPr>
            <a:spLocks noGrp="1"/>
          </p:cNvSpPr>
          <p:nvPr>
            <p:ph type="body" sz="quarter" idx="22" hasCustomPrompt="1"/>
          </p:nvPr>
        </p:nvSpPr>
        <p:spPr>
          <a:xfrm>
            <a:off x="385763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3" name="Textplatzhalter rechts"/>
          <p:cNvSpPr>
            <a:spLocks noGrp="1"/>
          </p:cNvSpPr>
          <p:nvPr>
            <p:ph type="body" sz="quarter" idx="23" hasCustomPrompt="1"/>
          </p:nvPr>
        </p:nvSpPr>
        <p:spPr>
          <a:xfrm>
            <a:off x="5230000" y="1635063"/>
            <a:ext cx="4544237" cy="31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und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A7C1209-B7C8-4CD7-9A34-63133BB13398}"/>
              </a:ext>
            </a:extLst>
          </p:cNvPr>
          <p:cNvSpPr/>
          <p:nvPr userDrawn="1"/>
        </p:nvSpPr>
        <p:spPr>
          <a:xfrm>
            <a:off x="0" y="5122332"/>
            <a:ext cx="10160000" cy="592667"/>
          </a:xfrm>
          <a:prstGeom prst="rect">
            <a:avLst/>
          </a:prstGeom>
          <a:gradFill flip="none" rotWithShape="1">
            <a:gsLst>
              <a:gs pos="100000">
                <a:srgbClr val="181717"/>
              </a:gs>
              <a:gs pos="60000">
                <a:srgbClr val="27285D"/>
              </a:gs>
              <a:gs pos="29000">
                <a:srgbClr val="464FA1"/>
              </a:gs>
              <a:gs pos="0">
                <a:srgbClr val="B86BAC">
                  <a:alpha val="9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B8D2C5FE-C65F-4987-AF78-6BA807CA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0" name="Textplatzhalter links"/>
          <p:cNvSpPr>
            <a:spLocks noGrp="1"/>
          </p:cNvSpPr>
          <p:nvPr>
            <p:ph type="body" sz="quarter" idx="20" hasCustomPrompt="1"/>
          </p:nvPr>
        </p:nvSpPr>
        <p:spPr>
          <a:xfrm>
            <a:off x="385763" y="1135063"/>
            <a:ext cx="4544237" cy="36655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01" name="Bildplatzhalter rechts"/>
          <p:cNvSpPr>
            <a:spLocks noGrp="1"/>
          </p:cNvSpPr>
          <p:nvPr>
            <p:ph type="pic" sz="quarter" idx="21"/>
          </p:nvPr>
        </p:nvSpPr>
        <p:spPr>
          <a:xfrm>
            <a:off x="5230000" y="1135063"/>
            <a:ext cx="4544237" cy="3665537"/>
          </a:xfrm>
          <a:prstGeom prst="round2DiagRect">
            <a:avLst>
              <a:gd name="adj1" fmla="val 1736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/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C4EBEE43-4185-4243-BD2E-3C85AC4204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BF0BD35-43D0-4C8D-9F6B-8B616CC12E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EDEDDC4-C37E-4B25-8EED-B55E81A040A2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3252" t="68620" r="28884" b="22792"/>
          <a:stretch/>
        </p:blipFill>
        <p:spPr>
          <a:xfrm>
            <a:off x="7704665" y="1"/>
            <a:ext cx="2455335" cy="39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01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liennummernplatzhalter 5">
            <a:extLst>
              <a:ext uri="{FF2B5EF4-FFF2-40B4-BE49-F238E27FC236}">
                <a16:creationId xmlns:a16="http://schemas.microsoft.com/office/drawing/2014/main" id="{3419F242-B134-4BD2-9F10-419F47B5E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0752" y="5340029"/>
            <a:ext cx="566993" cy="169278"/>
          </a:xfrm>
          <a:prstGeom prst="rect">
            <a:avLst/>
          </a:prstGeom>
          <a:noFill/>
        </p:spPr>
        <p:txBody>
          <a:bodyPr vert="horz" lIns="72000" tIns="0" rIns="72000" bIns="0" rtlCol="0" anchor="ctr">
            <a:noAutofit/>
          </a:bodyPr>
          <a:lstStyle>
            <a:lvl1pPr algn="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F0A8C9C1-DC75-4D72-A0EB-6DE4082B4D87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233" y="1079502"/>
            <a:ext cx="9389533" cy="3691468"/>
          </a:xfrm>
          <a:prstGeom prst="rect">
            <a:avLst/>
          </a:prstGeom>
        </p:spPr>
        <p:txBody>
          <a:bodyPr vert="horz" lIns="180000" tIns="180000" rIns="180000" bIns="180000" rtlCol="0">
            <a:noAutofit/>
          </a:bodyPr>
          <a:lstStyle/>
          <a:p>
            <a:pPr lvl="0"/>
            <a:r>
              <a:rPr lang="en-US"/>
              <a:t>Text</a:t>
            </a:r>
          </a:p>
        </p:txBody>
      </p:sp>
      <p:sp>
        <p:nvSpPr>
          <p:cNvPr id="22" name="Datumsplatzhalter 3">
            <a:extLst>
              <a:ext uri="{FF2B5EF4-FFF2-40B4-BE49-F238E27FC236}">
                <a16:creationId xmlns:a16="http://schemas.microsoft.com/office/drawing/2014/main" id="{FAA33ACC-4914-46A5-B93F-4D29A9042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233" y="5340029"/>
            <a:ext cx="1067709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l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30" name="Fußzeilenplatzhalter 29"/>
          <p:cNvSpPr>
            <a:spLocks noGrp="1"/>
          </p:cNvSpPr>
          <p:nvPr>
            <p:ph type="ftr" sz="quarter" idx="3"/>
          </p:nvPr>
        </p:nvSpPr>
        <p:spPr>
          <a:xfrm>
            <a:off x="1600200" y="5340029"/>
            <a:ext cx="6959600" cy="169276"/>
          </a:xfrm>
          <a:prstGeom prst="rect">
            <a:avLst/>
          </a:prstGeom>
        </p:spPr>
        <p:txBody>
          <a:bodyPr vert="horz" lIns="72000" tIns="0" rIns="72000" bIns="0" rtlCol="0" anchor="ctr">
            <a:noAutofit/>
          </a:bodyPr>
          <a:lstStyle>
            <a:lvl1pPr algn="ctr">
              <a:defRPr sz="1100" i="0">
                <a:solidFill>
                  <a:schemeClr val="bg1"/>
                </a:solidFill>
                <a:latin typeface="+mn-lt"/>
                <a:cs typeface="+mn-lt"/>
              </a:defRPr>
            </a:lvl1pPr>
          </a:lstStyle>
          <a:p>
            <a:endParaRPr lang="de-DE"/>
          </a:p>
        </p:txBody>
      </p:sp>
      <p:sp>
        <p:nvSpPr>
          <p:cNvPr id="4" name="Titelplatzhalter 3">
            <a:extLst>
              <a:ext uri="{FF2B5EF4-FFF2-40B4-BE49-F238E27FC236}">
                <a16:creationId xmlns:a16="http://schemas.microsoft.com/office/drawing/2014/main" id="{E0193544-49D7-4A37-BF6E-26B8B50AC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33" y="391580"/>
            <a:ext cx="9389532" cy="552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49296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4" r:id="rId2"/>
    <p:sldLayoutId id="2147483710" r:id="rId3"/>
    <p:sldLayoutId id="2147483711" r:id="rId4"/>
    <p:sldLayoutId id="2147483700" r:id="rId5"/>
    <p:sldLayoutId id="2147483705" r:id="rId6"/>
    <p:sldLayoutId id="2147483703" r:id="rId7"/>
    <p:sldLayoutId id="2147483706" r:id="rId8"/>
    <p:sldLayoutId id="2147483701" r:id="rId9"/>
    <p:sldLayoutId id="2147483707" r:id="rId10"/>
    <p:sldLayoutId id="2147483702" r:id="rId11"/>
    <p:sldLayoutId id="2147483708" r:id="rId12"/>
    <p:sldLayoutId id="2147483709" r:id="rId13"/>
    <p:sldLayoutId id="2147483712" r:id="rId14"/>
    <p:sldLayoutId id="2147483713" r:id="rId15"/>
    <p:sldLayoutId id="2147483714" r:id="rId16"/>
  </p:sldLayoutIdLst>
  <p:hf hdr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1"/>
          </a:solidFill>
          <a:latin typeface="+mj-lt"/>
          <a:ea typeface="+mj-ea"/>
          <a:cs typeface="+mj-lt"/>
        </a:defRPr>
      </a:lvl1pPr>
    </p:titleStyle>
    <p:bodyStyle>
      <a:lvl1pPr marL="144000" indent="-144000" algn="l" defTabSz="761970" rtl="0" eaLnBrk="1" latinLnBrk="0" hangingPunct="1">
        <a:lnSpc>
          <a:spcPct val="90000"/>
        </a:lnSpc>
        <a:spcBef>
          <a:spcPts val="833"/>
        </a:spcBef>
        <a:buClr>
          <a:srgbClr val="27285D"/>
        </a:buClr>
        <a:buSzPct val="110000"/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lt"/>
        </a:defRPr>
      </a:lvl1pPr>
      <a:lvl2pPr marL="36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464FA1"/>
        </a:buClr>
        <a:buSzPct val="110000"/>
        <a:buFont typeface="Arial" pitchFamily="34" charset="0"/>
        <a:buChar char="›"/>
        <a:defRPr sz="1200" kern="1200">
          <a:solidFill>
            <a:schemeClr val="tx1"/>
          </a:solidFill>
          <a:latin typeface="+mn-lt"/>
          <a:ea typeface="+mn-ea"/>
          <a:cs typeface="+mn-lt"/>
        </a:defRPr>
      </a:lvl2pPr>
      <a:lvl3pPr marL="57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B86BAC"/>
        </a:buClr>
        <a:buSzPct val="110000"/>
        <a:buFont typeface="Arial" pitchFamily="34" charset="0"/>
        <a:buChar char="›"/>
        <a:defRPr sz="1100" kern="1200">
          <a:solidFill>
            <a:schemeClr val="tx1"/>
          </a:solidFill>
          <a:latin typeface="+mn-lt"/>
          <a:ea typeface="+mn-ea"/>
          <a:cs typeface="+mn-lt"/>
        </a:defRPr>
      </a:lvl3pPr>
      <a:lvl4pPr marL="79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8177B7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4pPr>
      <a:lvl5pPr marL="1008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050" kern="1200">
          <a:solidFill>
            <a:schemeClr val="tx1"/>
          </a:solidFill>
          <a:latin typeface="+mn-lt"/>
          <a:ea typeface="+mn-ea"/>
          <a:cs typeface="+mn-lt"/>
        </a:defRPr>
      </a:lvl5pPr>
      <a:lvl6pPr marL="1224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440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656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872000" indent="-144000" algn="l" defTabSz="761970" rtl="0" eaLnBrk="1" latinLnBrk="0" hangingPunct="1">
        <a:lnSpc>
          <a:spcPct val="90000"/>
        </a:lnSpc>
        <a:spcBef>
          <a:spcPts val="417"/>
        </a:spcBef>
        <a:buClr>
          <a:srgbClr val="27285D"/>
        </a:buClr>
        <a:buSzPct val="110000"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0066218-71AA-42D0-B9B8-9F49D373A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390" y="3272131"/>
            <a:ext cx="9389532" cy="552450"/>
          </a:xfrm>
        </p:spPr>
        <p:txBody>
          <a:bodyPr>
            <a:normAutofit fontScale="90000"/>
          </a:bodyPr>
          <a:lstStyle/>
          <a:p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Energy-Efficient Robust Beamforming for LEO Satellite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971981A-5CB7-4C9F-B157-8DE633A806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143510" indent="-143510"/>
            <a:r>
              <a:rPr lang="de-DE"/>
              <a:t>Prakrit Parajuli</a:t>
            </a:r>
          </a:p>
        </p:txBody>
      </p:sp>
    </p:spTree>
    <p:extLst>
      <p:ext uri="{BB962C8B-B14F-4D97-AF65-F5344CB8AC3E}">
        <p14:creationId xmlns:p14="http://schemas.microsoft.com/office/powerpoint/2010/main" val="127044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65BC471-CEB0-4BF2-8DFE-02144C8A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>
                <a:latin typeface="Calibri"/>
                <a:ea typeface="Calibri"/>
                <a:cs typeface="Calibri"/>
              </a:rPr>
              <a:t>Motivation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2CC545-151A-4D57-9763-7AEB8D25ED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en-US">
                <a:ea typeface="+mn-lt"/>
              </a:rPr>
              <a:t>Real satellites have limited onboard power</a:t>
            </a:r>
          </a:p>
          <a:p>
            <a:pPr marL="143510" indent="-143510"/>
            <a:r>
              <a:rPr lang="en-US"/>
              <a:t>Sum-rate </a:t>
            </a:r>
            <a:r>
              <a:rPr lang="en-US" err="1"/>
              <a:t>maximization</a:t>
            </a:r>
            <a:r>
              <a:rPr lang="en-US" err="1">
                <a:ea typeface="+mn-lt"/>
              </a:rPr>
              <a:t>→always</a:t>
            </a:r>
            <a:r>
              <a:rPr lang="en-US">
                <a:ea typeface="+mn-lt"/>
              </a:rPr>
              <a:t> spends fill power budget.</a:t>
            </a:r>
            <a:endParaRPr lang="en-US"/>
          </a:p>
          <a:p>
            <a:pPr marL="143510" indent="-143510"/>
            <a:r>
              <a:rPr lang="en-US"/>
              <a:t>The real question isn't "how much rate" but " how much rate per watt"</a:t>
            </a:r>
          </a:p>
          <a:p>
            <a:pPr marL="143510" indent="-143510"/>
            <a:r>
              <a:rPr lang="en-US"/>
              <a:t>Solving this rate-per-watt problem optimally means re-solving a non-convex fractional program every channel updates, too costly for real-time onboard use.</a:t>
            </a:r>
          </a:p>
          <a:p>
            <a:pPr marL="143510" indent="-143510"/>
            <a:r>
              <a:rPr lang="en-US"/>
              <a:t>RL instead learns a direct policy; channel </a:t>
            </a:r>
            <a:r>
              <a:rPr lang="en-US" err="1"/>
              <a:t>errors→beamforming</a:t>
            </a:r>
            <a:r>
              <a:rPr lang="en-US"/>
              <a:t> decisions: near-optimal efficiency, no per step optimization.  </a:t>
            </a:r>
          </a:p>
          <a:p>
            <a:pPr marL="0" indent="0">
              <a:buNone/>
            </a:pPr>
            <a:endParaRPr lang="en-US"/>
          </a:p>
          <a:p>
            <a:pPr marL="143510" indent="-143510"/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AECB2A-9A2F-4004-85CB-F11D70FAE0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A93FC7-C366-4E35-8B53-AFB164F539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6845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A14A94B-2D44-4D4C-89EC-FBEBEDCAF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577" y="617825"/>
            <a:ext cx="4349423" cy="13468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700">
                <a:cs typeface="+mj-cs"/>
              </a:rPr>
              <a:t>System model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B6513991-740D-4907-A80F-4D93E1FD1F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0576" y="2111230"/>
            <a:ext cx="4349423" cy="2873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>
                <a:cs typeface="+mn-cs"/>
              </a:rPr>
              <a:t>Single LEO </a:t>
            </a:r>
            <a:r>
              <a:rPr lang="en-US" sz="1700" err="1">
                <a:cs typeface="+mn-cs"/>
              </a:rPr>
              <a:t>satellite</a:t>
            </a:r>
            <a:r>
              <a:rPr lang="en-US" sz="1700">
                <a:cs typeface="+mn-cs"/>
              </a:rPr>
              <a:t>, Uniform </a:t>
            </a:r>
            <a:r>
              <a:rPr lang="en-US" sz="1700" err="1">
                <a:cs typeface="+mn-cs"/>
              </a:rPr>
              <a:t>Lineararray</a:t>
            </a:r>
            <a:r>
              <a:rPr lang="en-US" sz="1700" u="sng">
                <a:cs typeface="+mn-cs"/>
              </a:rPr>
              <a:t>(ULA), N=16 </a:t>
            </a:r>
            <a:r>
              <a:rPr lang="en-US" sz="1700" u="sng" err="1">
                <a:cs typeface="+mn-cs"/>
              </a:rPr>
              <a:t>antennas</a:t>
            </a:r>
            <a:r>
              <a:rPr lang="en-US" sz="1700" u="sng">
                <a:cs typeface="+mn-cs"/>
              </a:rPr>
              <a:t>.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>
                <a:cs typeface="+mn-cs"/>
              </a:rPr>
              <a:t>K=3 single antenna ground users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u="sng" err="1">
                <a:cs typeface="+mn-cs"/>
              </a:rPr>
              <a:t>Satellite</a:t>
            </a:r>
            <a:r>
              <a:rPr lang="en-US" sz="1700" u="sng">
                <a:cs typeface="+mn-cs"/>
              </a:rPr>
              <a:t> </a:t>
            </a:r>
            <a:r>
              <a:rPr lang="en-US" sz="1700" u="sng" err="1">
                <a:cs typeface="+mn-cs"/>
              </a:rPr>
              <a:t>alditude</a:t>
            </a:r>
            <a:r>
              <a:rPr lang="en-US" sz="1700" u="sng">
                <a:cs typeface="+mn-cs"/>
              </a:rPr>
              <a:t> </a:t>
            </a:r>
            <a:r>
              <a:rPr lang="en-US" sz="1700">
                <a:cs typeface="+mn-cs"/>
              </a:rPr>
              <a:t>d₀ = 600 km, carrier frequency f=2GHz, transmit power budget P = 100W</a:t>
            </a:r>
          </a:p>
          <a:p>
            <a:pPr marL="143510" indent="-228600" defTabSz="914400">
              <a:buFont typeface="Arial" panose="020B0604020202020204" pitchFamily="34" charset="0"/>
              <a:buChar char="•"/>
            </a:pPr>
            <a:r>
              <a:rPr lang="en-US" sz="1700" err="1">
                <a:cs typeface="+mn-cs"/>
              </a:rPr>
              <a:t>LoS</a:t>
            </a:r>
            <a:r>
              <a:rPr lang="en-US" sz="1700">
                <a:cs typeface="+mn-cs"/>
              </a:rPr>
              <a:t> channel model with CSIT error model as </a:t>
            </a:r>
            <a:r>
              <a:rPr lang="en-US" sz="1700" err="1">
                <a:cs typeface="+mn-cs"/>
              </a:rPr>
              <a:t>AoD</a:t>
            </a:r>
            <a:r>
              <a:rPr lang="en-US" sz="1700">
                <a:cs typeface="+mn-cs"/>
              </a:rPr>
              <a:t> error +large-scale fading</a:t>
            </a:r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C644B571-4F90-9EBC-073F-C69792AAAD5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-2" b="3840"/>
          <a:stretch>
            <a:fillRect/>
          </a:stretch>
        </p:blipFill>
        <p:spPr>
          <a:xfrm>
            <a:off x="5845969" y="725199"/>
            <a:ext cx="3583786" cy="4202580"/>
          </a:xfrm>
          <a:prstGeom prst="rect">
            <a:avLst/>
          </a:prstGeom>
          <a:solidFill>
            <a:prstClr val="white">
              <a:lumMod val="95000"/>
            </a:prstClr>
          </a:solidFill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45968" y="4882356"/>
            <a:ext cx="3583787" cy="102803"/>
            <a:chOff x="7015162" y="5858828"/>
            <a:chExt cx="4300544" cy="123363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3C5E74D-EAF1-6F2F-9F56-624379819742}"/>
              </a:ext>
            </a:extLst>
          </p:cNvPr>
          <p:cNvSpPr txBox="1"/>
          <p:nvPr/>
        </p:nvSpPr>
        <p:spPr>
          <a:xfrm>
            <a:off x="1327776" y="4668195"/>
            <a:ext cx="2743199" cy="6463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Variables needs to be in math mode -&gt; </a:t>
            </a:r>
            <a:r>
              <a:rPr lang="en-US" err="1">
                <a:cs typeface="Arial"/>
              </a:rPr>
              <a:t>itali</a:t>
            </a:r>
            <a:r>
              <a:rPr lang="en-US">
                <a:cs typeface="Arial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241874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543E1FF5-53D7-4801-9E7A-120E17466B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EAF6480-F6B1-4274-A142-5153EC9B1B6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1E05AA95-F41C-4734-B340-6F151BEAF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489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A8A4955-EA33-49E4-8A01-1B9E3C0EC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 rate </a:t>
            </a:r>
            <a:r>
              <a:rPr lang="de-DE" err="1"/>
              <a:t>Maximization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BB5347-78D6-31D4-F536-1898475F75D0}"/>
              </a:ext>
            </a:extLst>
          </p:cNvPr>
          <p:cNvSpPr txBox="1"/>
          <p:nvPr/>
        </p:nvSpPr>
        <p:spPr>
          <a:xfrm>
            <a:off x="4338605" y="3885618"/>
            <a:ext cx="2743199" cy="120032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These </a:t>
            </a:r>
            <a:r>
              <a:rPr lang="en-US" err="1">
                <a:cs typeface="Arial"/>
              </a:rPr>
              <a:t>inbetween</a:t>
            </a:r>
            <a:r>
              <a:rPr lang="en-US">
                <a:cs typeface="Arial"/>
              </a:rPr>
              <a:t> slides are not necessary for that kind of a 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2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687AB33-88A1-41AA-92EF-B900D0733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Baseline: Sum Rate </a:t>
            </a:r>
            <a:r>
              <a:rPr lang="de-DE" err="1"/>
              <a:t>Maximization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19AF08D-A03A-4556-8252-C697AB9AA0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earlier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system</a:t>
            </a:r>
            <a:r>
              <a:rPr lang="de-DE"/>
              <a:t> </a:t>
            </a:r>
            <a:r>
              <a:rPr lang="de-DE" err="1"/>
              <a:t>maximizes</a:t>
            </a:r>
            <a:r>
              <a:rPr lang="de-DE"/>
              <a:t> the </a:t>
            </a:r>
            <a:r>
              <a:rPr lang="de-DE" err="1"/>
              <a:t>following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</a:t>
            </a:r>
            <a:endParaRPr lang="en-US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0" indent="0">
              <a:buNone/>
            </a:pP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instantaneous</a:t>
            </a:r>
            <a:r>
              <a:rPr lang="de-DE"/>
              <a:t> </a:t>
            </a:r>
            <a:r>
              <a:rPr lang="de-DE" err="1"/>
              <a:t>sum</a:t>
            </a:r>
            <a:r>
              <a:rPr lang="de-DE"/>
              <a:t> rate </a:t>
            </a:r>
            <a:r>
              <a:rPr lang="de-DE" err="1"/>
              <a:t>over</a:t>
            </a:r>
            <a:r>
              <a:rPr lang="de-DE"/>
              <a:t> all K </a:t>
            </a:r>
            <a:r>
              <a:rPr lang="de-DE" err="1"/>
              <a:t>users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: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r>
              <a:rPr lang="de-DE"/>
              <a:t>Subject to the total </a:t>
            </a:r>
            <a:r>
              <a:rPr lang="de-DE" err="1"/>
              <a:t>radiated</a:t>
            </a:r>
            <a:r>
              <a:rPr lang="de-DE"/>
              <a:t> power budget P.</a:t>
            </a:r>
          </a:p>
          <a:p>
            <a:pPr marL="0" indent="0">
              <a:buNone/>
            </a:pPr>
            <a:r>
              <a:rPr lang="de-DE"/>
              <a:t>The </a:t>
            </a:r>
            <a:r>
              <a:rPr lang="de-DE" err="1"/>
              <a:t>precode</a:t>
            </a:r>
            <a:r>
              <a:rPr lang="de-DE"/>
              <a:t> (MMSE, </a:t>
            </a:r>
            <a:r>
              <a:rPr lang="de-DE" err="1"/>
              <a:t>learned</a:t>
            </a:r>
            <a:r>
              <a:rPr lang="de-DE"/>
              <a:t> SAC </a:t>
            </a:r>
            <a:r>
              <a:rPr lang="de-DE" err="1"/>
              <a:t>precoder</a:t>
            </a:r>
            <a:r>
              <a:rPr lang="de-DE"/>
              <a:t>) </a:t>
            </a:r>
            <a:r>
              <a:rPr lang="de-DE" err="1"/>
              <a:t>rescales</a:t>
            </a:r>
            <a:r>
              <a:rPr lang="de-DE"/>
              <a:t> ist </a:t>
            </a:r>
            <a:r>
              <a:rPr lang="de-DE" err="1"/>
              <a:t>output</a:t>
            </a:r>
            <a:r>
              <a:rPr lang="de-DE"/>
              <a:t> to </a:t>
            </a:r>
            <a:r>
              <a:rPr lang="de-DE" err="1"/>
              <a:t>land</a:t>
            </a:r>
            <a:r>
              <a:rPr lang="de-DE"/>
              <a:t> </a:t>
            </a:r>
            <a:r>
              <a:rPr lang="de-DE" err="1"/>
              <a:t>exactly</a:t>
            </a:r>
            <a:r>
              <a:rPr lang="de-DE"/>
              <a:t> on </a:t>
            </a:r>
            <a:r>
              <a:rPr lang="de-DE" err="1"/>
              <a:t>this</a:t>
            </a:r>
            <a:r>
              <a:rPr lang="de-DE"/>
              <a:t> power budget. </a:t>
            </a:r>
          </a:p>
          <a:p>
            <a:pPr marL="0" indent="0">
              <a:buNone/>
            </a:pPr>
            <a:r>
              <a:rPr lang="de-DE" err="1"/>
              <a:t>Underthis</a:t>
            </a:r>
            <a:r>
              <a:rPr lang="de-DE"/>
              <a:t> rate-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, </a:t>
            </a:r>
            <a:r>
              <a:rPr lang="de-DE" err="1"/>
              <a:t>using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tranmsit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never</a:t>
            </a:r>
            <a:r>
              <a:rPr lang="de-DE"/>
              <a:t> </a:t>
            </a:r>
            <a:r>
              <a:rPr lang="de-DE" err="1"/>
              <a:t>worse</a:t>
            </a:r>
            <a:r>
              <a:rPr lang="de-DE"/>
              <a:t>, so the </a:t>
            </a:r>
            <a:r>
              <a:rPr lang="de-DE" err="1"/>
              <a:t>optimum</a:t>
            </a:r>
            <a:r>
              <a:rPr lang="de-DE"/>
              <a:t>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saturates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power budget.</a:t>
            </a:r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  <a:p>
            <a:pPr marL="0" indent="0">
              <a:buNone/>
            </a:pP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F58B76-20D1-4B8B-9119-2A943E69BFD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37EC87F-75E1-4A7A-A051-69EE20E392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2" name="Picture 1" descr="rbar.png">
            <a:extLst>
              <a:ext uri="{FF2B5EF4-FFF2-40B4-BE49-F238E27FC236}">
                <a16:creationId xmlns:a16="http://schemas.microsoft.com/office/drawing/2014/main" id="{54D4DDE7-1364-AAFC-1FE6-167B6F4B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8"/>
          <a:stretch>
            <a:fillRect/>
          </a:stretch>
        </p:blipFill>
        <p:spPr>
          <a:xfrm>
            <a:off x="817165" y="1662136"/>
            <a:ext cx="1402396" cy="457200"/>
          </a:xfrm>
          <a:prstGeom prst="rect">
            <a:avLst/>
          </a:prstGeom>
        </p:spPr>
      </p:pic>
      <p:pic>
        <p:nvPicPr>
          <p:cNvPr id="3" name="Picture 2" descr="sumrate.png">
            <a:extLst>
              <a:ext uri="{FF2B5EF4-FFF2-40B4-BE49-F238E27FC236}">
                <a16:creationId xmlns:a16="http://schemas.microsoft.com/office/drawing/2014/main" id="{2CC3EB5D-E225-EF14-0EB9-4F1A09B50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3"/>
          <a:stretch>
            <a:fillRect/>
          </a:stretch>
        </p:blipFill>
        <p:spPr>
          <a:xfrm>
            <a:off x="819639" y="2569056"/>
            <a:ext cx="2250144" cy="7810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2B8CCD-3097-82D7-E848-E86B3C02367F}"/>
              </a:ext>
            </a:extLst>
          </p:cNvPr>
          <p:cNvSpPr txBox="1"/>
          <p:nvPr/>
        </p:nvSpPr>
        <p:spPr>
          <a:xfrm>
            <a:off x="3794983" y="2631105"/>
            <a:ext cx="2743199" cy="646331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Directly put SINR instead of Gamma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0AEA7-DAF4-0E05-859B-7C933775C8D3}"/>
              </a:ext>
            </a:extLst>
          </p:cNvPr>
          <p:cNvSpPr txBox="1"/>
          <p:nvPr/>
        </p:nvSpPr>
        <p:spPr>
          <a:xfrm>
            <a:off x="6132534" y="1414205"/>
            <a:ext cx="2743199" cy="923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Arial"/>
              </a:rPr>
              <a:t>Write maximization problem as maximization problem, </a:t>
            </a:r>
            <a:r>
              <a:rPr lang="en-US" err="1">
                <a:cs typeface="Arial"/>
              </a:rPr>
              <a:t>ie</a:t>
            </a:r>
            <a:r>
              <a:rPr lang="en-US">
                <a:cs typeface="Arial"/>
              </a:rPr>
              <a:t> </a:t>
            </a:r>
            <a:r>
              <a:rPr lang="en-US" err="1">
                <a:cs typeface="Arial"/>
              </a:rPr>
              <a:t>max_W</a:t>
            </a:r>
            <a:r>
              <a:rPr lang="en-US">
                <a:cs typeface="Arial"/>
              </a:rPr>
              <a:t> R</a:t>
            </a:r>
          </a:p>
        </p:txBody>
      </p:sp>
    </p:spTree>
    <p:extLst>
      <p:ext uri="{BB962C8B-B14F-4D97-AF65-F5344CB8AC3E}">
        <p14:creationId xmlns:p14="http://schemas.microsoft.com/office/powerpoint/2010/main" val="168007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64B975F-AF65-4F21-AD2C-171FD6344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Energy Efficiency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640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898A0DFD-A189-4E32-9596-8921E797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objective</a:t>
            </a:r>
            <a:r>
              <a:rPr lang="de-DE"/>
              <a:t>: Energy Efficiency</a:t>
            </a:r>
            <a:endParaRPr lang="en-US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F8F5224-2AD1-4061-9083-8A6AA39D70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consider</a:t>
            </a:r>
            <a:r>
              <a:rPr lang="de-DE"/>
              <a:t> the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realistic</a:t>
            </a:r>
            <a:r>
              <a:rPr lang="de-DE"/>
              <a:t> </a:t>
            </a:r>
            <a:r>
              <a:rPr lang="de-DE" err="1"/>
              <a:t>scenario</a:t>
            </a:r>
            <a:r>
              <a:rPr lang="de-DE"/>
              <a:t> by </a:t>
            </a:r>
            <a:r>
              <a:rPr lang="de-DE" err="1"/>
              <a:t>adding</a:t>
            </a:r>
            <a:r>
              <a:rPr lang="de-DE"/>
              <a:t> </a:t>
            </a:r>
            <a:r>
              <a:rPr lang="de-DE" err="1"/>
              <a:t>electrical</a:t>
            </a:r>
            <a:r>
              <a:rPr lang="de-DE"/>
              <a:t> power </a:t>
            </a:r>
            <a:r>
              <a:rPr lang="de-DE" err="1"/>
              <a:t>consumption</a:t>
            </a:r>
            <a:r>
              <a:rPr lang="de-DE"/>
              <a:t> </a:t>
            </a:r>
            <a:r>
              <a:rPr lang="de-DE" err="1"/>
              <a:t>model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/>
              <a:t>And </a:t>
            </a:r>
            <a:r>
              <a:rPr lang="de-DE" err="1"/>
              <a:t>formulate</a:t>
            </a:r>
            <a:r>
              <a:rPr lang="de-DE"/>
              <a:t> a </a:t>
            </a:r>
            <a:r>
              <a:rPr lang="de-DE" err="1"/>
              <a:t>new</a:t>
            </a:r>
            <a:r>
              <a:rPr lang="de-DE"/>
              <a:t> </a:t>
            </a:r>
            <a:r>
              <a:rPr lang="de-DE" err="1"/>
              <a:t>maximization</a:t>
            </a:r>
            <a:r>
              <a:rPr lang="de-DE"/>
              <a:t> </a:t>
            </a:r>
            <a:r>
              <a:rPr lang="de-DE" err="1"/>
              <a:t>problem</a:t>
            </a:r>
            <a:r>
              <a:rPr lang="de-DE"/>
              <a:t> – Energy </a:t>
            </a:r>
            <a:r>
              <a:rPr lang="de-DE" err="1"/>
              <a:t>efficiency</a:t>
            </a:r>
            <a:r>
              <a:rPr lang="de-DE"/>
              <a:t>:</a:t>
            </a:r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r>
              <a:rPr lang="de-DE" err="1"/>
              <a:t>Precoder</a:t>
            </a:r>
            <a:r>
              <a:rPr lang="de-DE"/>
              <a:t> </a:t>
            </a:r>
            <a:r>
              <a:rPr lang="de-DE" err="1"/>
              <a:t>now</a:t>
            </a:r>
            <a:r>
              <a:rPr lang="de-DE"/>
              <a:t>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rescale</a:t>
            </a:r>
            <a:r>
              <a:rPr lang="de-DE"/>
              <a:t> down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hte</a:t>
            </a:r>
            <a:r>
              <a:rPr lang="de-DE"/>
              <a:t> 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budget,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lets</a:t>
            </a:r>
            <a:r>
              <a:rPr lang="de-DE"/>
              <a:t> the </a:t>
            </a:r>
            <a:r>
              <a:rPr lang="de-DE" err="1"/>
              <a:t>policy</a:t>
            </a:r>
            <a:r>
              <a:rPr lang="de-DE"/>
              <a:t> </a:t>
            </a:r>
            <a:r>
              <a:rPr lang="de-DE" err="1"/>
              <a:t>choose</a:t>
            </a:r>
            <a:r>
              <a:rPr lang="de-DE"/>
              <a:t> to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than</a:t>
            </a:r>
            <a:r>
              <a:rPr lang="de-DE"/>
              <a:t> the </a:t>
            </a:r>
            <a:r>
              <a:rPr lang="de-DE" err="1"/>
              <a:t>full</a:t>
            </a:r>
            <a:r>
              <a:rPr lang="de-DE"/>
              <a:t> budget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efficient</a:t>
            </a:r>
            <a:r>
              <a:rPr lang="de-DE"/>
              <a:t>.</a:t>
            </a:r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EFE701-CC10-4AAE-A469-9AAE56909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2BB5E24-22E4-40C2-BE08-291A6A6731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2" name="Picture 1" descr="ptotal.png">
            <a:extLst>
              <a:ext uri="{FF2B5EF4-FFF2-40B4-BE49-F238E27FC236}">
                <a16:creationId xmlns:a16="http://schemas.microsoft.com/office/drawing/2014/main" id="{61168FBA-0DDD-6AF8-EABC-2BAD38FA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"/>
          <a:stretch>
            <a:fillRect/>
          </a:stretch>
        </p:blipFill>
        <p:spPr>
          <a:xfrm>
            <a:off x="1191158" y="1593567"/>
            <a:ext cx="2916901" cy="533400"/>
          </a:xfrm>
          <a:prstGeom prst="rect">
            <a:avLst/>
          </a:prstGeom>
        </p:spPr>
      </p:pic>
      <p:pic>
        <p:nvPicPr>
          <p:cNvPr id="3" name="Picture 2" descr="ee.png">
            <a:extLst>
              <a:ext uri="{FF2B5EF4-FFF2-40B4-BE49-F238E27FC236}">
                <a16:creationId xmlns:a16="http://schemas.microsoft.com/office/drawing/2014/main" id="{D1F5AD66-0E73-1AAA-C22A-ACFAC8486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90138" y="2450873"/>
            <a:ext cx="1838325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38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5566C0D-3D32-4C62-91CB-100C6CEE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SAC in Practice</a:t>
            </a:r>
          </a:p>
        </p:txBody>
      </p:sp>
    </p:spTree>
    <p:extLst>
      <p:ext uri="{BB962C8B-B14F-4D97-AF65-F5344CB8AC3E}">
        <p14:creationId xmlns:p14="http://schemas.microsoft.com/office/powerpoint/2010/main" val="4015159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5963086-5648-4357-8015-9CC18FA47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How </a:t>
            </a:r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solve</a:t>
            </a:r>
            <a:r>
              <a:rPr lang="de-DE"/>
              <a:t> it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F6D344-3515-416F-9567-5806401C98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simulation</a:t>
            </a:r>
            <a:r>
              <a:rPr lang="de-DE"/>
              <a:t> step, in a loop:</a:t>
            </a:r>
          </a:p>
          <a:p>
            <a:pPr marL="0" lvl="1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500">
                <a:latin typeface="Calibri"/>
                <a:ea typeface="Calibri"/>
                <a:cs typeface="Calibri"/>
              </a:rPr>
              <a:t> channel estimate → Actor network → proposed precoding matrix W → reward → store &amp; learn</a:t>
            </a:r>
          </a:p>
          <a:p>
            <a:pPr marL="143510" indent="-143510"/>
            <a:r>
              <a:rPr lang="de-DE"/>
              <a:t>Rate-</a:t>
            </a:r>
            <a:r>
              <a:rPr lang="de-DE" err="1"/>
              <a:t>over</a:t>
            </a:r>
            <a:r>
              <a:rPr lang="de-DE"/>
              <a:t>-power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ratio</a:t>
            </a:r>
            <a:r>
              <a:rPr lang="de-DE"/>
              <a:t>, </a:t>
            </a:r>
            <a:r>
              <a:rPr lang="de-DE" err="1"/>
              <a:t>akward</a:t>
            </a:r>
            <a:r>
              <a:rPr lang="de-DE"/>
              <a:t> for RL to </a:t>
            </a:r>
            <a:r>
              <a:rPr lang="de-DE" err="1"/>
              <a:t>maximize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, </a:t>
            </a:r>
            <a:r>
              <a:rPr lang="de-DE" err="1"/>
              <a:t>classical</a:t>
            </a:r>
            <a:r>
              <a:rPr lang="de-DE"/>
              <a:t> </a:t>
            </a:r>
            <a:r>
              <a:rPr lang="de-DE" err="1"/>
              <a:t>Dinkelbach's</a:t>
            </a:r>
            <a:r>
              <a:rPr lang="de-DE"/>
              <a:t> </a:t>
            </a:r>
            <a:r>
              <a:rPr lang="de-DE" err="1"/>
              <a:t>transmormation</a:t>
            </a:r>
            <a:r>
              <a:rPr lang="de-DE"/>
              <a:t> </a:t>
            </a:r>
            <a:r>
              <a:rPr lang="de-DE" err="1"/>
              <a:t>gave</a:t>
            </a:r>
            <a:r>
              <a:rPr lang="de-DE"/>
              <a:t> </a:t>
            </a:r>
            <a:r>
              <a:rPr lang="de-DE" err="1"/>
              <a:t>us</a:t>
            </a:r>
            <a:r>
              <a:rPr lang="de-DE"/>
              <a:t> the </a:t>
            </a:r>
            <a:r>
              <a:rPr lang="de-DE" err="1"/>
              <a:t>motivation</a:t>
            </a:r>
            <a:r>
              <a:rPr lang="de-DE"/>
              <a:t> to turn it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substraction</a:t>
            </a:r>
            <a:r>
              <a:rPr lang="de-DE"/>
              <a:t>, </a:t>
            </a:r>
            <a:r>
              <a:rPr lang="de-DE" err="1"/>
              <a:t>implement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the </a:t>
            </a:r>
            <a:r>
              <a:rPr lang="de-DE" err="1"/>
              <a:t>reward</a:t>
            </a:r>
            <a:r>
              <a:rPr lang="de-DE"/>
              <a:t>:</a:t>
            </a:r>
          </a:p>
          <a:p>
            <a:pPr marL="359410" lvl="1" indent="-143510">
              <a:buFont typeface="Courier New" pitchFamily="34" charset="0"/>
              <a:buChar char="o"/>
            </a:pPr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  <a:p>
            <a:pPr marL="143510" indent="-143510"/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4F3380-6678-41FA-9D5E-F7837FC159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FE2102-DAA6-4585-96C4-1A1500E505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10</a:t>
            </a:fld>
            <a:endParaRPr lang="de-DE"/>
          </a:p>
        </p:txBody>
      </p:sp>
      <p:pic>
        <p:nvPicPr>
          <p:cNvPr id="2" name="Picture 1" descr="dinkelbach.png">
            <a:extLst>
              <a:ext uri="{FF2B5EF4-FFF2-40B4-BE49-F238E27FC236}">
                <a16:creationId xmlns:a16="http://schemas.microsoft.com/office/drawing/2014/main" id="{CFE41965-C353-5667-C339-2A7A8A0870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/>
          <a:stretch>
            <a:fillRect/>
          </a:stretch>
        </p:blipFill>
        <p:spPr>
          <a:xfrm>
            <a:off x="2662838" y="2462791"/>
            <a:ext cx="4107531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4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60407A2-88F6-4CD0-B203-A5CFB84D6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Results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2359247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D7A0FA2-7E80-45A9-B6E0-DBF298C9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Results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EE645A2-C509-4DDF-B73F-672BBF203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/>
              <a:t>MMSE and SAC </a:t>
            </a:r>
            <a:r>
              <a:rPr lang="de-DE" err="1"/>
              <a:t>maximize</a:t>
            </a:r>
            <a:r>
              <a:rPr lang="de-DE"/>
              <a:t> for rate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sped</a:t>
            </a:r>
            <a:r>
              <a:rPr lang="de-DE"/>
              <a:t> </a:t>
            </a:r>
            <a:r>
              <a:rPr lang="de-DE" err="1"/>
              <a:t>full</a:t>
            </a:r>
            <a:r>
              <a:rPr lang="de-DE"/>
              <a:t> power budget; </a:t>
            </a:r>
            <a:r>
              <a:rPr lang="de-DE" err="1"/>
              <a:t>our</a:t>
            </a:r>
            <a:r>
              <a:rPr lang="de-DE"/>
              <a:t> </a:t>
            </a:r>
            <a:r>
              <a:rPr lang="de-DE" err="1"/>
              <a:t>energy-Efficient</a:t>
            </a:r>
            <a:r>
              <a:rPr lang="de-DE"/>
              <a:t> SAC do not and </a:t>
            </a:r>
            <a:r>
              <a:rPr lang="de-DE" err="1"/>
              <a:t>stays</a:t>
            </a:r>
            <a:r>
              <a:rPr lang="de-DE"/>
              <a:t> robust as CSIT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grows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5E38A70-50DF-41F9-A797-E01022BDE28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5C81FD-E83B-4918-8ACD-0BD8FA53B75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12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4E894-246F-9037-EDFD-12A7EE830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43" y="1952083"/>
            <a:ext cx="4493078" cy="19391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A23A6E-4231-548F-8EAD-DFBFD9092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269" y="1742541"/>
            <a:ext cx="4176134" cy="236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90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4BCF-F874-5C52-3973-E1AB2418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53AF104-E1F1-134E-15C3-9DAB5780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Results</a:t>
            </a:r>
            <a:r>
              <a:rPr lang="de-DE"/>
              <a:t>: </a:t>
            </a:r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Looks like </a:t>
            </a:r>
            <a:r>
              <a:rPr lang="de-DE" err="1"/>
              <a:t>Spatially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65106C-9A8C-A6B8-E1B9-65BB07C518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180000" tIns="180000" rIns="180000" bIns="180000" rtlCol="0" anchor="t">
            <a:noAutofit/>
          </a:bodyPr>
          <a:lstStyle/>
          <a:p>
            <a:pPr marL="143510" indent="-143510"/>
            <a:r>
              <a:rPr lang="de-DE" err="1"/>
              <a:t>Comparing</a:t>
            </a:r>
            <a:r>
              <a:rPr lang="de-DE"/>
              <a:t> </a:t>
            </a:r>
            <a:r>
              <a:rPr lang="de-DE" err="1"/>
              <a:t>where</a:t>
            </a:r>
            <a:r>
              <a:rPr lang="de-DE"/>
              <a:t> the </a:t>
            </a:r>
            <a:r>
              <a:rPr lang="de-DE" err="1"/>
              <a:t>regular</a:t>
            </a:r>
            <a:r>
              <a:rPr lang="de-DE"/>
              <a:t> (100 W) SAC and Energy </a:t>
            </a:r>
            <a:r>
              <a:rPr lang="de-DE" err="1"/>
              <a:t>Efficient</a:t>
            </a:r>
            <a:r>
              <a:rPr lang="de-DE"/>
              <a:t> SAC </a:t>
            </a:r>
            <a:r>
              <a:rPr lang="de-DE" err="1"/>
              <a:t>actually</a:t>
            </a:r>
            <a:r>
              <a:rPr lang="de-DE"/>
              <a:t> </a:t>
            </a:r>
            <a:r>
              <a:rPr lang="de-DE" err="1"/>
              <a:t>point</a:t>
            </a:r>
            <a:r>
              <a:rPr lang="de-DE"/>
              <a:t> </a:t>
            </a:r>
            <a:r>
              <a:rPr lang="de-DE" err="1"/>
              <a:t>their</a:t>
            </a:r>
            <a:r>
              <a:rPr lang="de-DE"/>
              <a:t> </a:t>
            </a:r>
            <a:r>
              <a:rPr lang="de-DE" err="1"/>
              <a:t>antenna</a:t>
            </a:r>
            <a:r>
              <a:rPr lang="de-DE"/>
              <a:t> </a:t>
            </a:r>
            <a:r>
              <a:rPr lang="de-DE" err="1"/>
              <a:t>beamd</a:t>
            </a:r>
            <a:r>
              <a:rPr lang="de-DE"/>
              <a:t> for the same </a:t>
            </a:r>
            <a:r>
              <a:rPr lang="de-DE" err="1"/>
              <a:t>users</a:t>
            </a:r>
            <a:r>
              <a:rPr lang="de-DE"/>
              <a:t>: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E5AED9-1196-CE43-1E2B-ADE81FBEE4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92A725-232D-882B-E296-EAC64EBE2D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2" name="Picture 1" descr="beampattern21_final.png">
            <a:extLst>
              <a:ext uri="{FF2B5EF4-FFF2-40B4-BE49-F238E27FC236}">
                <a16:creationId xmlns:a16="http://schemas.microsoft.com/office/drawing/2014/main" id="{3F695AEB-0F8F-E2FA-6ABF-C6CE16C5C8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46"/>
          <a:stretch>
            <a:fillRect/>
          </a:stretch>
        </p:blipFill>
        <p:spPr>
          <a:xfrm>
            <a:off x="2688350" y="1815314"/>
            <a:ext cx="3485558" cy="276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91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platzhalter 28">
            <a:extLst>
              <a:ext uri="{FF2B5EF4-FFF2-40B4-BE49-F238E27FC236}">
                <a16:creationId xmlns:a16="http://schemas.microsoft.com/office/drawing/2014/main" id="{2B1B625C-96EF-45BC-A21E-B16A1D0FE34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7E82B4E-02A0-4A6F-9234-6B4F7F082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/>
              <a:t>Contact</a:t>
            </a:r>
          </a:p>
        </p:txBody>
      </p:sp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3985F683-D99F-4A31-85E5-E05CA0B7C6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1" name="Bildplatzhalter 30">
            <a:extLst>
              <a:ext uri="{FF2B5EF4-FFF2-40B4-BE49-F238E27FC236}">
                <a16:creationId xmlns:a16="http://schemas.microsoft.com/office/drawing/2014/main" id="{DA67C491-63D5-462A-A662-04A8751C3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>
            <a:extLst>
              <a:ext uri="{FF2B5EF4-FFF2-40B4-BE49-F238E27FC236}">
                <a16:creationId xmlns:a16="http://schemas.microsoft.com/office/drawing/2014/main" id="{3156B62E-BBDD-47BE-B7F9-F2A42A7DBE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3" name="Bildplatzhalter 32">
            <a:extLst>
              <a:ext uri="{FF2B5EF4-FFF2-40B4-BE49-F238E27FC236}">
                <a16:creationId xmlns:a16="http://schemas.microsoft.com/office/drawing/2014/main" id="{C65A7C95-7A49-4539-9480-3CEC266B902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>
            <a:extLst>
              <a:ext uri="{FF2B5EF4-FFF2-40B4-BE49-F238E27FC236}">
                <a16:creationId xmlns:a16="http://schemas.microsoft.com/office/drawing/2014/main" id="{B08061E3-2302-4638-A1F4-65B067126B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5" name="Bildplatzhalter 34">
            <a:extLst>
              <a:ext uri="{FF2B5EF4-FFF2-40B4-BE49-F238E27FC236}">
                <a16:creationId xmlns:a16="http://schemas.microsoft.com/office/drawing/2014/main" id="{C4D24353-B1A9-4B7D-A477-6A622C28D76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6" name="Textplatzhalter 35">
            <a:extLst>
              <a:ext uri="{FF2B5EF4-FFF2-40B4-BE49-F238E27FC236}">
                <a16:creationId xmlns:a16="http://schemas.microsoft.com/office/drawing/2014/main" id="{D0E26131-C4D7-4988-8E85-FF162AB400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7" name="Bildplatzhalter 36">
            <a:extLst>
              <a:ext uri="{FF2B5EF4-FFF2-40B4-BE49-F238E27FC236}">
                <a16:creationId xmlns:a16="http://schemas.microsoft.com/office/drawing/2014/main" id="{94A9F5DB-0E9F-41C0-97C1-DAC0EB707D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8" name="Textplatzhalter 37">
            <a:extLst>
              <a:ext uri="{FF2B5EF4-FFF2-40B4-BE49-F238E27FC236}">
                <a16:creationId xmlns:a16="http://schemas.microsoft.com/office/drawing/2014/main" id="{9F0839FA-CB65-41D6-BC92-072FB60F85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lvl="0"/>
            <a:r>
              <a:rPr lang="de-DE"/>
              <a:t>Name</a:t>
            </a:r>
          </a:p>
          <a:p>
            <a:pPr lvl="0"/>
            <a:r>
              <a:rPr lang="de-DE"/>
              <a:t>Telefon</a:t>
            </a:r>
          </a:p>
          <a:p>
            <a:pPr lvl="0"/>
            <a:r>
              <a:rPr lang="de-DE"/>
              <a:t>Email</a:t>
            </a:r>
          </a:p>
        </p:txBody>
      </p:sp>
      <p:sp>
        <p:nvSpPr>
          <p:cNvPr id="39" name="Bildplatzhalter 38">
            <a:extLst>
              <a:ext uri="{FF2B5EF4-FFF2-40B4-BE49-F238E27FC236}">
                <a16:creationId xmlns:a16="http://schemas.microsoft.com/office/drawing/2014/main" id="{1D80A479-2849-433F-9B3A-000A77EB3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4E96F4AD-68D3-4EBC-A498-E1F08AE995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0A8C9C1-DC75-4D72-A0EB-6DE4082B4D87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40" name="Bildplatzhalter 39">
            <a:extLst>
              <a:ext uri="{FF2B5EF4-FFF2-40B4-BE49-F238E27FC236}">
                <a16:creationId xmlns:a16="http://schemas.microsoft.com/office/drawing/2014/main" id="{28B502FF-5745-49C3-9DA3-E33CF53CFD9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60FF1C6-FB28-4FEE-9890-C152A7E95EB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066CFE56-B772-4C47-9B1B-B59F34FF1421}" type="datetime1">
              <a:rPr lang="de-DE" smtClean="0"/>
              <a:pPr/>
              <a:t>17.07.2026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9048094"/>
      </p:ext>
    </p:extLst>
  </p:cSld>
  <p:clrMapOvr>
    <a:masterClrMapping/>
  </p:clrMapOvr>
</p:sld>
</file>

<file path=ppt/theme/theme1.xml><?xml version="1.0" encoding="utf-8"?>
<a:theme xmlns:a="http://schemas.openxmlformats.org/drawingml/2006/main" name="Leer">
  <a:themeElements>
    <a:clrScheme name="Open6GHub">
      <a:dk1>
        <a:sysClr val="windowText" lastClr="000000"/>
      </a:dk1>
      <a:lt1>
        <a:sysClr val="window" lastClr="FFFFFF"/>
      </a:lt1>
      <a:dk2>
        <a:srgbClr val="27285D"/>
      </a:dk2>
      <a:lt2>
        <a:srgbClr val="E7E6E6"/>
      </a:lt2>
      <a:accent1>
        <a:srgbClr val="464FA1"/>
      </a:accent1>
      <a:accent2>
        <a:srgbClr val="B86BAC"/>
      </a:accent2>
      <a:accent3>
        <a:srgbClr val="27285D"/>
      </a:accent3>
      <a:accent4>
        <a:srgbClr val="FBAE40"/>
      </a:accent4>
      <a:accent5>
        <a:srgbClr val="8177B7"/>
      </a:accent5>
      <a:accent6>
        <a:srgbClr val="C7CAE8"/>
      </a:accent6>
      <a:hlink>
        <a:srgbClr val="464FA1"/>
      </a:hlink>
      <a:folHlink>
        <a:srgbClr val="8177B7"/>
      </a:folHlink>
    </a:clrScheme>
    <a:fontScheme name="Segoe U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2AAB2169050E7409AD7DA8AFD437431" ma:contentTypeVersion="11" ma:contentTypeDescription="Ein neues Dokument erstellen." ma:contentTypeScope="" ma:versionID="ae1eaca27b984468a5b8b9902d78e1ef">
  <xsd:schema xmlns:xsd="http://www.w3.org/2001/XMLSchema" xmlns:xs="http://www.w3.org/2001/XMLSchema" xmlns:p="http://schemas.microsoft.com/office/2006/metadata/properties" xmlns:ns2="7d8a12e6-e874-4ed4-80e3-ce9d05bda616" xmlns:ns3="67e74810-8f20-4503-805b-9c6fd4252a27" targetNamespace="http://schemas.microsoft.com/office/2006/metadata/properties" ma:root="true" ma:fieldsID="2299b1428dcf1a5d30dc9472eff8dace" ns2:_="" ns3:_="">
    <xsd:import namespace="7d8a12e6-e874-4ed4-80e3-ce9d05bda616"/>
    <xsd:import namespace="67e74810-8f20-4503-805b-9c6fd4252a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a12e6-e874-4ed4-80e3-ce9d05bda61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31b3ddd8-ca2a-458f-8bd2-560e3e7e15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e74810-8f20-4503-805b-9c6fd4252a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cdb9f4-e3c9-4244-9256-a19229c96a96}" ma:internalName="TaxCatchAll" ma:showField="CatchAllData" ma:web="67e74810-8f20-4503-805b-9c6fd4252a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7e74810-8f20-4503-805b-9c6fd4252a27" xsi:nil="true"/>
    <lcf76f155ced4ddcb4097134ff3c332f xmlns="7d8a12e6-e874-4ed4-80e3-ce9d05bda61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E76A2A6-5B4C-471F-9C09-B0955110C48D}">
  <ds:schemaRefs>
    <ds:schemaRef ds:uri="67e74810-8f20-4503-805b-9c6fd4252a27"/>
    <ds:schemaRef ds:uri="7d8a12e6-e874-4ed4-80e3-ce9d05bda6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563DFFB-6C1E-4B26-BAFA-C0FE29DFDF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A51E3F-3019-4CD2-8286-F8D654D237C1}">
  <ds:schemaRefs>
    <ds:schemaRef ds:uri="2f10d409-1834-44ed-a229-86f2672128af"/>
    <ds:schemaRef ds:uri="67e74810-8f20-4503-805b-9c6fd4252a27"/>
    <ds:schemaRef ds:uri="7d8a12e6-e874-4ed4-80e3-ce9d05bda616"/>
    <ds:schemaRef ds:uri="9bb0529b-9b19-4044-8849-6e78bf817de1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6G-HUB-Powerpoint-Design</Template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Leer</vt:lpstr>
      <vt:lpstr>Energy-Efficient Robust Beamforming for LEO Satellite</vt:lpstr>
      <vt:lpstr>Motivation</vt:lpstr>
      <vt:lpstr>System model</vt:lpstr>
      <vt:lpstr>PowerPoint Presentation</vt:lpstr>
      <vt:lpstr>Sum rate Maximization</vt:lpstr>
      <vt:lpstr>Baseline: Sum Rate Maximization</vt:lpstr>
      <vt:lpstr>Energy Efficiency</vt:lpstr>
      <vt:lpstr>Our new objective: Energy Efficiency</vt:lpstr>
      <vt:lpstr>SAC in Practice</vt:lpstr>
      <vt:lpstr>How we solve it</vt:lpstr>
      <vt:lpstr>Results</vt:lpstr>
      <vt:lpstr>Results</vt:lpstr>
      <vt:lpstr>Results: What this Looks like Spatially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Delgado</dc:creator>
  <cp:revision>1</cp:revision>
  <dcterms:created xsi:type="dcterms:W3CDTF">2021-08-19T15:26:46Z</dcterms:created>
  <dcterms:modified xsi:type="dcterms:W3CDTF">2026-07-17T07:44:31Z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0x010100B2AAB2169050E7409AD7DA8AFD437431</vt:lpwstr>
  </property>
  <property fmtid="{D5CDD505-2E9C-101B-9397-08002B2CF9AE}" pid="3" name="MediaServiceImageTags">
    <vt:lpwstr/>
  </property>
</Properties>
</file>